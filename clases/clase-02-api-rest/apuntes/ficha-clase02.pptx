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CLASE 02 ·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1097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clase · 1/4 · 01/04/2026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42976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3B2A7A"/>
          </a:solidFill>
          <a:ln w="6350">
            <a:solidFill>
              <a:srgbClr val="3B2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429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</a:t>
            </a:r>
            <a:pPr algn="ct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E9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el patrón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429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76272" y="42976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429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pPr algn="ct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el idioma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3959352" y="429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23944" y="42976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23944" y="429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Web</a:t>
            </a:r>
            <a:pPr algn="ct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los dos andando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5907024" y="429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1616" y="42976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71616" y="429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pPr algn="ct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interfaz</a:t>
            </a:r>
            <a:endParaRPr lang="en-US" sz="720" dirty="0"/>
          </a:p>
        </p:txBody>
      </p:sp>
      <p:sp>
        <p:nvSpPr>
          <p:cNvPr id="15" name="Text 13"/>
          <p:cNvSpPr txBox="1"/>
          <p:nvPr/>
        </p:nvSpPr>
        <p:spPr>
          <a:xfrm>
            <a:off x="7854696" y="429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19288" y="42976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19288" y="429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pPr algn="ct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el estándar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9802368" y="429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966960" y="42976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429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</a:t>
            </a:r>
            <a:pPr algn="ctr"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que la consume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228600" y="731520"/>
            <a:ext cx="3822192" cy="1874520"/>
          </a:xfrm>
          <a:prstGeom prst="roundRect">
            <a:avLst>
              <a:gd name="adj" fmla="val 2927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78638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" y="786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" y="7726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1014984"/>
            <a:ext cx="36393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es un protocolo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 protocolo es un idioma: HTTP, SMTP, IMAP).</a:t>
            </a:r>
            <a:endParaRPr lang="en-US" sz="86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 un patrón arquitectónico: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conexión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Decir «lo hacemos cliente-servidor» ya lo dice todo.</a:t>
            </a:r>
            <a:endParaRPr lang="en-US" sz="86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 2 componentes: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provee uno o más servicios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una interfaz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un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los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parte de su operación.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57200" y="2039112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2039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48840" y="2039112"/>
            <a:ext cx="868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48840" y="2039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25880" y="2130552"/>
            <a:ext cx="822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1325880" y="2286000"/>
            <a:ext cx="822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371600" y="197510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230428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1554480" y="214884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3127248" y="1911096"/>
            <a:ext cx="832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ser SMTP o IMAP: el patrón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 del protocolo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solo exige que ambos hablen el mismo.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228600" y="2688336"/>
            <a:ext cx="3822192" cy="1399032"/>
          </a:xfrm>
          <a:prstGeom prst="roundRect">
            <a:avLst>
              <a:gd name="adj" fmla="val 3922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2743200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" y="2729484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reglas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20040" y="297180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inicia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comunicación. Nunca el servidor.</a:t>
            </a:r>
            <a:endParaRPr lang="en-US" sz="86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en un puerto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determinado, esperando solicitudes.</a:t>
            </a:r>
            <a:endParaRPr lang="en-US" sz="86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cerrado: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→ Procesamiento → Respuesta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6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clientes simultáneamente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320040" y="3694176"/>
            <a:ext cx="3639312" cy="365760"/>
          </a:xfrm>
          <a:prstGeom prst="roundRect">
            <a:avLst>
              <a:gd name="adj" fmla="val 10000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6616" y="37216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las notificaciones push?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 que estudia la materia) el servidor NO puede iniciar. Push y streaming requieren salir de HTTP/1.1 (HTTP/2, HTTP/3, WebSockets).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28600" y="4169664"/>
            <a:ext cx="3822192" cy="2523744"/>
          </a:xfrm>
          <a:prstGeom prst="roundRect">
            <a:avLst>
              <a:gd name="adj" fmla="val 2174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" y="4224528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92608" y="4224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30352" y="4210812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no identidades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20040" y="445312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 de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el que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 de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6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backend es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frontend y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BD. Un backend que llama a otro backend también es cliente.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320040" y="5093208"/>
            <a:ext cx="1234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70" dirty="0"/>
          </a:p>
        </p:txBody>
      </p:sp>
      <p:sp>
        <p:nvSpPr>
          <p:cNvPr id="49" name="Text 47"/>
          <p:cNvSpPr txBox="1"/>
          <p:nvPr/>
        </p:nvSpPr>
        <p:spPr>
          <a:xfrm>
            <a:off x="1554480" y="5093208"/>
            <a:ext cx="1325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770" dirty="0"/>
          </a:p>
        </p:txBody>
      </p:sp>
      <p:sp>
        <p:nvSpPr>
          <p:cNvPr id="50" name="Text 48"/>
          <p:cNvSpPr txBox="1"/>
          <p:nvPr/>
        </p:nvSpPr>
        <p:spPr>
          <a:xfrm>
            <a:off x="2880360" y="5093208"/>
            <a:ext cx="107899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770" dirty="0"/>
          </a:p>
        </p:txBody>
      </p:sp>
      <p:sp>
        <p:nvSpPr>
          <p:cNvPr id="51" name="Text 49"/>
          <p:cNvSpPr txBox="1"/>
          <p:nvPr/>
        </p:nvSpPr>
        <p:spPr>
          <a:xfrm>
            <a:off x="320040" y="5289804"/>
            <a:ext cx="1234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770" dirty="0"/>
          </a:p>
        </p:txBody>
      </p:sp>
      <p:sp>
        <p:nvSpPr>
          <p:cNvPr id="52" name="Text 50"/>
          <p:cNvSpPr txBox="1"/>
          <p:nvPr/>
        </p:nvSpPr>
        <p:spPr>
          <a:xfrm>
            <a:off x="1554480" y="5289804"/>
            <a:ext cx="1325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Nginx</a:t>
            </a:r>
            <a:endParaRPr lang="en-US" sz="770" dirty="0"/>
          </a:p>
        </p:txBody>
      </p:sp>
      <p:sp>
        <p:nvSpPr>
          <p:cNvPr id="53" name="Text 51"/>
          <p:cNvSpPr txBox="1"/>
          <p:nvPr/>
        </p:nvSpPr>
        <p:spPr>
          <a:xfrm>
            <a:off x="2880360" y="5289804"/>
            <a:ext cx="107899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70" dirty="0"/>
          </a:p>
        </p:txBody>
      </p:sp>
      <p:sp>
        <p:nvSpPr>
          <p:cNvPr id="54" name="Text 52"/>
          <p:cNvSpPr txBox="1"/>
          <p:nvPr/>
        </p:nvSpPr>
        <p:spPr>
          <a:xfrm>
            <a:off x="320040" y="5486400"/>
            <a:ext cx="1234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home banking</a:t>
            </a:r>
            <a:endParaRPr lang="en-US" sz="770" dirty="0"/>
          </a:p>
        </p:txBody>
      </p:sp>
      <p:sp>
        <p:nvSpPr>
          <p:cNvPr id="55" name="Text 53"/>
          <p:cNvSpPr txBox="1"/>
          <p:nvPr/>
        </p:nvSpPr>
        <p:spPr>
          <a:xfrm>
            <a:off x="1554480" y="5486400"/>
            <a:ext cx="1325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del banco</a:t>
            </a:r>
            <a:endParaRPr lang="en-US" sz="770" dirty="0"/>
          </a:p>
        </p:txBody>
      </p:sp>
      <p:sp>
        <p:nvSpPr>
          <p:cNvPr id="56" name="Text 54"/>
          <p:cNvSpPr txBox="1"/>
          <p:nvPr/>
        </p:nvSpPr>
        <p:spPr>
          <a:xfrm>
            <a:off x="2880360" y="5486400"/>
            <a:ext cx="107899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70" dirty="0"/>
          </a:p>
        </p:txBody>
      </p:sp>
      <p:sp>
        <p:nvSpPr>
          <p:cNvPr id="57" name="Text 55"/>
          <p:cNvSpPr txBox="1"/>
          <p:nvPr/>
        </p:nvSpPr>
        <p:spPr>
          <a:xfrm>
            <a:off x="320040" y="5682996"/>
            <a:ext cx="1234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770" dirty="0"/>
          </a:p>
        </p:txBody>
      </p:sp>
      <p:sp>
        <p:nvSpPr>
          <p:cNvPr id="58" name="Text 56"/>
          <p:cNvSpPr txBox="1"/>
          <p:nvPr/>
        </p:nvSpPr>
        <p:spPr>
          <a:xfrm>
            <a:off x="1554480" y="5682996"/>
            <a:ext cx="1325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correo</a:t>
            </a:r>
            <a:endParaRPr lang="en-US" sz="770" dirty="0"/>
          </a:p>
        </p:txBody>
      </p:sp>
      <p:sp>
        <p:nvSpPr>
          <p:cNvPr id="59" name="Text 57"/>
          <p:cNvSpPr txBox="1"/>
          <p:nvPr/>
        </p:nvSpPr>
        <p:spPr>
          <a:xfrm>
            <a:off x="2880360" y="5682996"/>
            <a:ext cx="107899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IMAP</a:t>
            </a:r>
            <a:endParaRPr lang="en-US" sz="770" dirty="0"/>
          </a:p>
        </p:txBody>
      </p:sp>
      <p:sp>
        <p:nvSpPr>
          <p:cNvPr id="60" name="Text 58"/>
          <p:cNvSpPr txBox="1"/>
          <p:nvPr/>
        </p:nvSpPr>
        <p:spPr>
          <a:xfrm>
            <a:off x="320040" y="5879592"/>
            <a:ext cx="1234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delivery</a:t>
            </a:r>
            <a:endParaRPr lang="en-US" sz="770" dirty="0"/>
          </a:p>
        </p:txBody>
      </p:sp>
      <p:sp>
        <p:nvSpPr>
          <p:cNvPr id="61" name="Text 59"/>
          <p:cNvSpPr txBox="1"/>
          <p:nvPr/>
        </p:nvSpPr>
        <p:spPr>
          <a:xfrm>
            <a:off x="1554480" y="5879592"/>
            <a:ext cx="1325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del sistema</a:t>
            </a:r>
            <a:endParaRPr lang="en-US" sz="770" dirty="0"/>
          </a:p>
        </p:txBody>
      </p:sp>
      <p:sp>
        <p:nvSpPr>
          <p:cNvPr id="62" name="Text 60"/>
          <p:cNvSpPr txBox="1"/>
          <p:nvPr/>
        </p:nvSpPr>
        <p:spPr>
          <a:xfrm>
            <a:off x="2880360" y="5879592"/>
            <a:ext cx="107899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70" dirty="0"/>
          </a:p>
        </p:txBody>
      </p:sp>
      <p:sp>
        <p:nvSpPr>
          <p:cNvPr id="63" name="Text 61"/>
          <p:cNvSpPr txBox="1"/>
          <p:nvPr/>
        </p:nvSpPr>
        <p:spPr>
          <a:xfrm>
            <a:off x="320040" y="6076188"/>
            <a:ext cx="12344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 online</a:t>
            </a:r>
            <a:endParaRPr lang="en-US" sz="770" dirty="0"/>
          </a:p>
        </p:txBody>
      </p:sp>
      <p:sp>
        <p:nvSpPr>
          <p:cNvPr id="64" name="Text 62"/>
          <p:cNvSpPr txBox="1"/>
          <p:nvPr/>
        </p:nvSpPr>
        <p:spPr>
          <a:xfrm>
            <a:off x="1554480" y="6076188"/>
            <a:ext cx="132588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del juego</a:t>
            </a:r>
            <a:endParaRPr lang="en-US" sz="770" dirty="0"/>
          </a:p>
        </p:txBody>
      </p:sp>
      <p:sp>
        <p:nvSpPr>
          <p:cNvPr id="65" name="Text 63"/>
          <p:cNvSpPr txBox="1"/>
          <p:nvPr/>
        </p:nvSpPr>
        <p:spPr>
          <a:xfrm>
            <a:off x="2880360" y="6076188"/>
            <a:ext cx="1078992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</a:t>
            </a:r>
            <a:endParaRPr lang="en-US" sz="770" dirty="0"/>
          </a:p>
        </p:txBody>
      </p:sp>
      <p:sp>
        <p:nvSpPr>
          <p:cNvPr id="66" name="Text 64"/>
          <p:cNvSpPr txBox="1"/>
          <p:nvPr/>
        </p:nvSpPr>
        <p:spPr>
          <a:xfrm>
            <a:off x="320040" y="6327648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es «el navegador»: </a:t>
            </a:r>
            <a:pPr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cualquier componente que inicia y consume (una app mobile, otro backend).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4187952" y="731520"/>
            <a:ext cx="3822192" cy="3767328"/>
          </a:xfrm>
          <a:prstGeom prst="roundRect">
            <a:avLst>
              <a:gd name="adj" fmla="val 1456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51960" y="78638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251960" y="786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4489704" y="7726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 ¿dónde vive la lógica de negocio?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4736592" y="101498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pasivo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6327648" y="101498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activo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4233672" y="11978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activo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4233672" y="2112264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pasivo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754880" y="1216152"/>
            <a:ext cx="1554480" cy="877824"/>
          </a:xfrm>
          <a:prstGeom prst="rect">
            <a:avLst/>
          </a:prstGeom>
          <a:solidFill>
            <a:srgbClr val="F7FBF9"/>
          </a:solidFill>
          <a:ln w="6350">
            <a:solidFill>
              <a:srgbClr val="B7DCC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800600" y="124358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en el cliente; el servidor </a:t>
            </a:r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persiste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ERP de escritorio viejo.</a:t>
            </a:r>
            <a:endParaRPr lang="en-US" sz="790" dirty="0"/>
          </a:p>
        </p:txBody>
      </p:sp>
      <p:sp>
        <p:nvSpPr>
          <p:cNvPr id="77" name="Shape 75"/>
          <p:cNvSpPr/>
          <p:nvPr/>
        </p:nvSpPr>
        <p:spPr>
          <a:xfrm>
            <a:off x="6345936" y="1216152"/>
            <a:ext cx="1554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91656" y="124358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pesado</a:t>
            </a:r>
            <a:endParaRPr lang="en-US" sz="79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</a:t>
            </a:r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distribuida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el cliente tiene presentación </a:t>
            </a:r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interacción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SPA con React/Angular → señal fuerte de pesado.</a:t>
            </a:r>
            <a:endParaRPr lang="en-US" sz="790" dirty="0"/>
          </a:p>
        </p:txBody>
      </p:sp>
      <p:sp>
        <p:nvSpPr>
          <p:cNvPr id="79" name="Shape 77"/>
          <p:cNvSpPr/>
          <p:nvPr/>
        </p:nvSpPr>
        <p:spPr>
          <a:xfrm>
            <a:off x="4754880" y="2130552"/>
            <a:ext cx="1554480" cy="877824"/>
          </a:xfrm>
          <a:prstGeom prst="rect">
            <a:avLst/>
          </a:prstGeom>
          <a:solidFill>
            <a:srgbClr val="F7FBF9"/>
          </a:solidFill>
          <a:ln w="6350">
            <a:solidFill>
              <a:srgbClr val="B7DCC8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800600" y="215798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lógica en ambos: </a:t>
            </a:r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intermedios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algo más grande. 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componente de integración.</a:t>
            </a:r>
            <a:endParaRPr lang="en-US" sz="790" dirty="0"/>
          </a:p>
        </p:txBody>
      </p:sp>
      <p:sp>
        <p:nvSpPr>
          <p:cNvPr id="81" name="Shape 79"/>
          <p:cNvSpPr/>
          <p:nvPr/>
        </p:nvSpPr>
        <p:spPr>
          <a:xfrm>
            <a:off x="6345936" y="2130552"/>
            <a:ext cx="1554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391656" y="215798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liviano</a:t>
            </a:r>
            <a:endParaRPr lang="en-US" sz="79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en el servidor; el cliente </a:t>
            </a:r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presenta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web tradicional (el servidor arma el HTML).</a:t>
            </a:r>
            <a:endParaRPr lang="en-US" sz="790" dirty="0"/>
          </a:p>
        </p:txBody>
      </p:sp>
      <p:sp>
        <p:nvSpPr>
          <p:cNvPr id="83" name="Shape 81"/>
          <p:cNvSpPr/>
          <p:nvPr/>
        </p:nvSpPr>
        <p:spPr>
          <a:xfrm>
            <a:off x="4279392" y="3072384"/>
            <a:ext cx="3639312" cy="347472"/>
          </a:xfrm>
          <a:prstGeom prst="roundRect">
            <a:avLst>
              <a:gd name="adj" fmla="val 10526"/>
            </a:avLst>
          </a:prstGeom>
          <a:solidFill>
            <a:srgbClr val="FDECEA"/>
          </a:solidFill>
          <a:ln w="6350">
            <a:solidFill>
              <a:srgbClr val="B42318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315968" y="3099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PERLA DEL PROFE ·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«Este sistema no es una pregunta de parcial.»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es vocabulario para justificar; lo que se evalúa es la consecuencia.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4279392" y="3483864"/>
            <a:ext cx="36393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importa: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lógica en el cliente → ↑ procesamiento, ↑ batería, ↑ memoria del dispositivo, ↓ carga del servidor. Y al revés.</a:t>
            </a:r>
            <a:endParaRPr lang="en-US" sz="82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lo definen el diseño y las tecnologías, no la aplicación: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¿home banking liviano o pesado? Depende del banco.</a:t>
            </a:r>
            <a:endParaRPr lang="en-US" sz="820" dirty="0"/>
          </a:p>
        </p:txBody>
      </p:sp>
      <p:sp>
        <p:nvSpPr>
          <p:cNvPr id="86" name="Shape 84"/>
          <p:cNvSpPr/>
          <p:nvPr/>
        </p:nvSpPr>
        <p:spPr>
          <a:xfrm>
            <a:off x="4187952" y="4581144"/>
            <a:ext cx="3822192" cy="2112264"/>
          </a:xfrm>
          <a:prstGeom prst="roundRect">
            <a:avLst>
              <a:gd name="adj" fmla="val 2597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51960" y="4636008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251960" y="4636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4489704" y="4622292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liviano: ventajas y desventajas (slide 8)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279392" y="4864608"/>
            <a:ext cx="1773936" cy="603504"/>
          </a:xfrm>
          <a:prstGeom prst="roundRect">
            <a:avLst>
              <a:gd name="adj" fmla="val 7576"/>
            </a:avLst>
          </a:prstGeom>
          <a:solidFill>
            <a:srgbClr val="E8F5EE"/>
          </a:solidFill>
          <a:ln w="9525">
            <a:solidFill>
              <a:srgbClr val="1E7A4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343400" y="49011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Mantenibilidad</a:t>
            </a:r>
            <a:endParaRPr lang="en-US" sz="76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funcionalidad centralizados: actualizás el servidor y el usuario aprieta F5.</a:t>
            </a:r>
            <a:endParaRPr lang="en-US" sz="760" dirty="0"/>
          </a:p>
        </p:txBody>
      </p:sp>
      <p:sp>
        <p:nvSpPr>
          <p:cNvPr id="92" name="Shape 90"/>
          <p:cNvSpPr/>
          <p:nvPr/>
        </p:nvSpPr>
        <p:spPr>
          <a:xfrm>
            <a:off x="6144768" y="4864608"/>
            <a:ext cx="1773936" cy="603504"/>
          </a:xfrm>
          <a:prstGeom prst="roundRect">
            <a:avLst>
              <a:gd name="adj" fmla="val 7576"/>
            </a:avLst>
          </a:prstGeom>
          <a:solidFill>
            <a:srgbClr val="E8F5EE"/>
          </a:solidFill>
          <a:ln w="9525">
            <a:solidFill>
              <a:srgbClr val="1E7A4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208776" y="49011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Seguridad</a:t>
            </a:r>
            <a:endParaRPr lang="en-US" sz="76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centralizado: un solo componente que proteger.</a:t>
            </a:r>
            <a:endParaRPr lang="en-US" sz="760" dirty="0"/>
          </a:p>
        </p:txBody>
      </p:sp>
      <p:sp>
        <p:nvSpPr>
          <p:cNvPr id="94" name="Shape 92"/>
          <p:cNvSpPr/>
          <p:nvPr/>
        </p:nvSpPr>
        <p:spPr>
          <a:xfrm>
            <a:off x="4279392" y="5541264"/>
            <a:ext cx="177393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2620E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343400" y="55778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Eficiencia (tiempo de respuesta)*</a:t>
            </a:r>
            <a:endParaRPr lang="en-US" sz="76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puede ser un cuello de botella.</a:t>
            </a:r>
            <a:endParaRPr lang="en-US" sz="760" dirty="0"/>
          </a:p>
        </p:txBody>
      </p:sp>
      <p:sp>
        <p:nvSpPr>
          <p:cNvPr id="96" name="Shape 94"/>
          <p:cNvSpPr/>
          <p:nvPr/>
        </p:nvSpPr>
        <p:spPr>
          <a:xfrm>
            <a:off x="6144768" y="5541264"/>
            <a:ext cx="177393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2620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208776" y="55778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Disponibilidad*</a:t>
            </a:r>
            <a:endParaRPr lang="en-US" sz="76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falla.</a:t>
            </a:r>
            <a:endParaRPr lang="en-US" sz="760" dirty="0"/>
          </a:p>
        </p:txBody>
      </p:sp>
      <p:sp>
        <p:nvSpPr>
          <p:cNvPr id="98" name="Text 96"/>
          <p:cNvSpPr txBox="1"/>
          <p:nvPr/>
        </p:nvSpPr>
        <p:spPr>
          <a:xfrm>
            <a:off x="4279392" y="621792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↑ · Desventajas* ↓   </a:t>
            </a:r>
            <a:pPr indent="0" marL="0">
              <a:lnSpc>
                <a:spcPct val="95000"/>
              </a:lnSpc>
              <a:buNone/>
            </a:pPr>
            <a:r>
              <a:rPr lang="en-US" sz="77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Considerando un único servidor. </a:t>
            </a:r>
            <a:pPr indent="0" marL="0">
              <a:lnSpc>
                <a:spcPct val="95000"/>
              </a:lnSpc>
              <a:buNone/>
            </a:pPr>
            <a:r>
              <a:rPr lang="en-US" sz="7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aclaración es la puerta al resto de la materia: las desventajas existen porque hay uno solo.</a:t>
            </a:r>
            <a:endParaRPr lang="en-US" sz="770" dirty="0"/>
          </a:p>
        </p:txBody>
      </p:sp>
      <p:sp>
        <p:nvSpPr>
          <p:cNvPr id="99" name="Shape 97"/>
          <p:cNvSpPr/>
          <p:nvPr/>
        </p:nvSpPr>
        <p:spPr>
          <a:xfrm>
            <a:off x="8147304" y="731520"/>
            <a:ext cx="3813048" cy="2121408"/>
          </a:xfrm>
          <a:prstGeom prst="roundRect">
            <a:avLst>
              <a:gd name="adj" fmla="val 2586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11312" y="786384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211312" y="786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8449056" y="772668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razonamiento que evalúa la materia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8238744" y="1014984"/>
            <a:ext cx="3630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atributos de calidad se pisan entre sí.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8238744" y="1472184"/>
            <a:ext cx="1143000" cy="658368"/>
          </a:xfrm>
          <a:prstGeom prst="roundRect">
            <a:avLst>
              <a:gd name="adj" fmla="val 6944"/>
            </a:avLst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284464" y="147218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Agrego un 2.° servidor + balanceo de carga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 flipV="1">
            <a:off x="9381744" y="1408176"/>
            <a:ext cx="237744" cy="393192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7" name="Text 105"/>
          <p:cNvSpPr txBox="1"/>
          <p:nvPr/>
        </p:nvSpPr>
        <p:spPr>
          <a:xfrm>
            <a:off x="9637776" y="12710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gano EFICIENCIA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reparte la carga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 flipV="1">
            <a:off x="9381744" y="1682496"/>
            <a:ext cx="237744" cy="118872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9" name="Text 107"/>
          <p:cNvSpPr txBox="1"/>
          <p:nvPr/>
        </p:nvSpPr>
        <p:spPr>
          <a:xfrm>
            <a:off x="9637776" y="15453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gano DISPONIBILIDAD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 uno cae, responde el otro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9381744" y="1801368"/>
            <a:ext cx="237744" cy="15544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1" name="Text 109"/>
          <p:cNvSpPr txBox="1"/>
          <p:nvPr/>
        </p:nvSpPr>
        <p:spPr>
          <a:xfrm>
            <a:off x="9637776" y="18196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pierdo MANTENIBILIDAD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más nodos que mantener</a:t>
            </a:r>
            <a:endParaRPr lang="en-US" sz="780" dirty="0"/>
          </a:p>
        </p:txBody>
      </p:sp>
      <p:sp>
        <p:nvSpPr>
          <p:cNvPr id="112" name="Shape 110"/>
          <p:cNvSpPr/>
          <p:nvPr/>
        </p:nvSpPr>
        <p:spPr>
          <a:xfrm>
            <a:off x="9381744" y="1801368"/>
            <a:ext cx="237744" cy="429768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3" name="Text 111"/>
          <p:cNvSpPr txBox="1"/>
          <p:nvPr/>
        </p:nvSpPr>
        <p:spPr>
          <a:xfrm>
            <a:off x="9637776" y="20939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sube el COSTO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decisión de negocio, no técnica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8238744" y="2404872"/>
            <a:ext cx="363016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3B2A7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275320" y="2432304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arquitectura «mejor». </a:t>
            </a:r>
            <a:pPr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que privilegia unos atributos a costa de otros. El trabajo es </a:t>
            </a:r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qué sacrificar y justificarlo.</a:t>
            </a:r>
            <a:endParaRPr lang="en-US" sz="760" dirty="0"/>
          </a:p>
        </p:txBody>
      </p:sp>
      <p:sp>
        <p:nvSpPr>
          <p:cNvPr id="116" name="Shape 114"/>
          <p:cNvSpPr/>
          <p:nvPr/>
        </p:nvSpPr>
        <p:spPr>
          <a:xfrm>
            <a:off x="8147304" y="2935224"/>
            <a:ext cx="3813048" cy="1371600"/>
          </a:xfrm>
          <a:prstGeom prst="roundRect">
            <a:avLst>
              <a:gd name="adj" fmla="val 4000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11312" y="2990088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8211312" y="2990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8449056" y="2976372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único de falla se muda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284464" y="3264408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E7A4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284464" y="32644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8833104" y="3374136"/>
            <a:ext cx="365760" cy="1463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8284464" y="3557016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E7A4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284464" y="35570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 flipV="1">
            <a:off x="8833104" y="3520440"/>
            <a:ext cx="365760" cy="1463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9198864" y="3337560"/>
            <a:ext cx="411480" cy="384048"/>
          </a:xfrm>
          <a:prstGeom prst="can">
            <a:avLst/>
          </a:prstGeom>
          <a:solidFill>
            <a:srgbClr val="FFF4C9"/>
          </a:solidFill>
          <a:ln w="15875">
            <a:solidFill>
              <a:srgbClr val="C2620E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9198864" y="3429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700" dirty="0"/>
          </a:p>
        </p:txBody>
      </p:sp>
      <p:sp>
        <p:nvSpPr>
          <p:cNvPr id="128" name="Text 126"/>
          <p:cNvSpPr txBox="1"/>
          <p:nvPr/>
        </p:nvSpPr>
        <p:spPr>
          <a:xfrm>
            <a:off x="8238744" y="38679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eliminaste: 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MUDÓ</a:t>
            </a:r>
            <a:endParaRPr lang="en-US" sz="700" dirty="0"/>
          </a:p>
        </p:txBody>
      </p:sp>
      <p:sp>
        <p:nvSpPr>
          <p:cNvPr id="129" name="Text 127"/>
          <p:cNvSpPr txBox="1"/>
          <p:nvPr/>
        </p:nvSpPr>
        <p:spPr>
          <a:xfrm>
            <a:off x="9793224" y="3218688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componente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redundancia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es, por sí solo, un punto único de falla. La disponibilidad del sistema es la de su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eslabón más débil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4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Rejas en todas las ventanas menos una → tu seguridad es la de esa ventana.</a:t>
            </a:r>
            <a:endParaRPr lang="en-US" sz="740" dirty="0"/>
          </a:p>
        </p:txBody>
      </p:sp>
      <p:sp>
        <p:nvSpPr>
          <p:cNvPr id="130" name="Shape 128"/>
          <p:cNvSpPr/>
          <p:nvPr/>
        </p:nvSpPr>
        <p:spPr>
          <a:xfrm>
            <a:off x="8147304" y="4389120"/>
            <a:ext cx="3813048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11312" y="4443984"/>
            <a:ext cx="182880" cy="1828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8211312" y="44439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33" name="Text 131"/>
          <p:cNvSpPr txBox="1"/>
          <p:nvPr/>
        </p:nvSpPr>
        <p:spPr>
          <a:xfrm>
            <a:off x="8449056" y="4430268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molde de toda respuesta correcta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para el parcial y el TPA</a:t>
            </a:r>
            <a:endParaRPr lang="en-US" sz="1000" dirty="0"/>
          </a:p>
        </p:txBody>
      </p:sp>
      <p:sp>
        <p:nvSpPr>
          <p:cNvPr id="134" name="Text 132"/>
          <p:cNvSpPr txBox="1"/>
          <p:nvPr/>
        </p:nvSpPr>
        <p:spPr>
          <a:xfrm>
            <a:off x="8257032" y="4700016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materia es de aplicación […]: resolveme cómo lo vas a hacer, y justificame por qué lo hacés así.»</a:t>
            </a:r>
            <a:endParaRPr lang="en-US" sz="860" dirty="0"/>
          </a:p>
        </p:txBody>
      </p:sp>
      <p:sp>
        <p:nvSpPr>
          <p:cNvPr id="135" name="Text 133"/>
          <p:cNvSpPr txBox="1"/>
          <p:nvPr/>
        </p:nvSpPr>
        <p:spPr>
          <a:xfrm>
            <a:off x="8421624" y="5120640"/>
            <a:ext cx="34472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Pongo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 lógica / el componente]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ACÁ,</a:t>
            </a:r>
            <a:endParaRPr lang="en-US" sz="12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priorizo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[atributo de calidad]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acepto pagar con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[otro atributo de calidad]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CLASE 02 ·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HTTP + Arquitectura Web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1097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clase · 2/4 · 01/04/2026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502920"/>
            <a:ext cx="3822192" cy="192024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557784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5440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HTTP/1.1: la ficha técnica (hay que recitarla)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8638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Protocol: 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transferir hipertexto (texto con links). Hoy, el protocolo principal de la web.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FD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" y="11064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74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7 del modelo OSI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176272" y="109728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FD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31136" y="11064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Sincrónico</a:t>
            </a:r>
            <a:endParaRPr lang="en-US" sz="74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pedís y esperás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20040" y="141732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FD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" y="1426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</a:t>
            </a:r>
            <a:endParaRPr lang="en-US" sz="74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recuerda nada (stateless)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2176272" y="141732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FD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31136" y="1426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Servidor</a:t>
            </a:r>
            <a:endParaRPr lang="en-US" sz="74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el patrón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20040" y="173736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FD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" y="17465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/ Respuesta</a:t>
            </a:r>
            <a:endParaRPr lang="en-US" sz="74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pedido, una respuesta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2176272" y="1737360"/>
            <a:ext cx="1783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FD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31136" y="17465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80 / 443</a:t>
            </a:r>
            <a:endParaRPr lang="en-US" sz="74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= HTTPS</a:t>
            </a:r>
            <a:endParaRPr lang="en-US" sz="74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2075688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 · DELETE (+ PATCH).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Especificación: RFC 2616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slide dice «RFC-216»: typo).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DSI solo importa la capa 7 (HTTP, SMTP, IMAP/POP3, MQTT); TCP, IP y UDP van más abajo.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8600" y="2496312"/>
            <a:ext cx="3822192" cy="4206240"/>
          </a:xfrm>
          <a:prstGeom prst="roundRect">
            <a:avLst>
              <a:gd name="adj" fmla="val 1435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551176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2608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2537460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Sincrónico y sin estado: valen media materia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277977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Sincrónico: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pedís y </a:t>
            </a:r>
            <a:pPr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esperás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(bloqueante, uno a uno). No hay streaming: para un chat habría que preguntar cada segundo si hay algo nuevo (</a:t>
            </a:r>
            <a:pPr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86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331012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(stateless):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</a:t>
            </a:r>
            <a:pPr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recuerda nada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solicitudes anteriores. Cada request es un desconocido que toca la puerta por primera vez.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20040" y="3831336"/>
            <a:ext cx="3639312" cy="392659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" y="3877056"/>
            <a:ext cx="3566160" cy="301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91"/>
              </a:lnSpc>
              <a:buNone/>
            </a:pPr>
            <a:r>
              <a:rPr lang="en-US" sz="67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/clientes/5          → 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 id: 5, nombre: 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"Juan"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670" dirty="0"/>
          </a:p>
          <a:p>
            <a:pPr indent="0" marL="0">
              <a:lnSpc>
                <a:spcPts val="791"/>
              </a:lnSpc>
              <a:buNone/>
            </a:pPr>
            <a:r>
              <a:rPr lang="en-US" sz="67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/facturas            → ¿QUÉ cliente? (no tiene forma de saberlo)</a:t>
            </a:r>
            <a:endParaRPr lang="en-US" sz="670" dirty="0"/>
          </a:p>
          <a:p>
            <a:pPr indent="0" marL="0">
              <a:lnSpc>
                <a:spcPts val="791"/>
              </a:lnSpc>
              <a:buNone/>
            </a:pPr>
            <a:r>
              <a:rPr lang="en-US" sz="67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791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/clientes/5/facturas → toda la info, otra vez</a:t>
            </a:r>
            <a:endParaRPr lang="en-US" sz="670" dirty="0"/>
          </a:p>
        </p:txBody>
      </p:sp>
      <p:sp>
        <p:nvSpPr>
          <p:cNvPr id="30" name="Text 28"/>
          <p:cNvSpPr txBox="1"/>
          <p:nvPr/>
        </p:nvSpPr>
        <p:spPr>
          <a:xfrm>
            <a:off x="228600" y="3972801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" y="40732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306291"/>
            <a:ext cx="363931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6616" y="4333723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cada request lleva TODA la información necesaria para ser procesada.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acá salen las rutas REST, los tokens, las cookies y las sesiones.</a:t>
            </a:r>
            <a:endParaRPr lang="en-US" sz="780" dirty="0"/>
          </a:p>
        </p:txBody>
      </p:sp>
      <p:sp>
        <p:nvSpPr>
          <p:cNvPr id="34" name="Text 32"/>
          <p:cNvSpPr txBox="1"/>
          <p:nvPr/>
        </p:nvSpPr>
        <p:spPr>
          <a:xfrm>
            <a:off x="320040" y="4918939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Matiz: «HTTP va sobre TCP y TCP retransmite → ¿hay estado?»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dos estados distintos: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5248123"/>
            <a:ext cx="36393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74904" y="5248123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conexión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(¿se perdió un paquete?)</a:t>
            </a:r>
            <a:endParaRPr lang="en-US" sz="790" dirty="0"/>
          </a:p>
        </p:txBody>
      </p:sp>
      <p:sp>
        <p:nvSpPr>
          <p:cNvPr id="37" name="Text 35"/>
          <p:cNvSpPr txBox="1"/>
          <p:nvPr/>
        </p:nvSpPr>
        <p:spPr>
          <a:xfrm>
            <a:off x="3044952" y="5248123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TCP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320040" y="5540731"/>
            <a:ext cx="36393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4904" y="5540731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operación</a:t>
            </a:r>
            <a:pPr indent="0" marL="0">
              <a:lnSpc>
                <a:spcPct val="9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(¿qué me pediste antes?)</a:t>
            </a:r>
            <a:endParaRPr lang="en-US" sz="790" dirty="0"/>
          </a:p>
        </p:txBody>
      </p:sp>
      <p:sp>
        <p:nvSpPr>
          <p:cNvPr id="40" name="Text 38"/>
          <p:cNvSpPr txBox="1"/>
          <p:nvPr/>
        </p:nvSpPr>
        <p:spPr>
          <a:xfrm>
            <a:off x="3044952" y="5540731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NADIE</a:t>
            </a:r>
            <a:endParaRPr lang="en-US" sz="860" dirty="0"/>
          </a:p>
        </p:txBody>
      </p:sp>
      <p:sp>
        <p:nvSpPr>
          <p:cNvPr id="41" name="Text 39"/>
          <p:cNvSpPr txBox="1"/>
          <p:nvPr/>
        </p:nvSpPr>
        <p:spPr>
          <a:xfrm>
            <a:off x="320040" y="5869915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«Stateless» habla del segundo.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4187952" y="502920"/>
            <a:ext cx="3822192" cy="2450592"/>
          </a:xfrm>
          <a:prstGeom prst="roundRect">
            <a:avLst>
              <a:gd name="adj" fmla="val 2239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51960" y="557784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489704" y="5440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Anatomía: request y response (3 partes, simétricas)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279392" y="78638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279392" y="932688"/>
            <a:ext cx="2651760" cy="639928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25112" y="978408"/>
            <a:ext cx="2578608" cy="5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/usuarios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api.miapp.com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application/json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Bearer &lt;token&gt;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"juan@mail.com"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610" dirty="0"/>
          </a:p>
        </p:txBody>
      </p:sp>
      <p:sp>
        <p:nvSpPr>
          <p:cNvPr id="49" name="Text 47"/>
          <p:cNvSpPr txBox="1"/>
          <p:nvPr/>
        </p:nvSpPr>
        <p:spPr>
          <a:xfrm>
            <a:off x="6976872" y="960107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inicio</a:t>
            </a:r>
            <a:endParaRPr lang="en-US" sz="69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+ URL + Versión</a:t>
            </a:r>
            <a:endParaRPr lang="en-US" sz="690" dirty="0"/>
          </a:p>
        </p:txBody>
      </p:sp>
      <p:sp>
        <p:nvSpPr>
          <p:cNvPr id="50" name="Text 48"/>
          <p:cNvSpPr txBox="1"/>
          <p:nvPr/>
        </p:nvSpPr>
        <p:spPr>
          <a:xfrm>
            <a:off x="6976872" y="1142937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69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</a:t>
            </a:r>
            <a:endParaRPr lang="en-US" sz="690" dirty="0"/>
          </a:p>
        </p:txBody>
      </p:sp>
      <p:sp>
        <p:nvSpPr>
          <p:cNvPr id="51" name="Text 49"/>
          <p:cNvSpPr txBox="1"/>
          <p:nvPr/>
        </p:nvSpPr>
        <p:spPr>
          <a:xfrm>
            <a:off x="6976872" y="14171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69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690" dirty="0"/>
          </a:p>
        </p:txBody>
      </p:sp>
      <p:sp>
        <p:nvSpPr>
          <p:cNvPr id="52" name="Text 50"/>
          <p:cNvSpPr txBox="1"/>
          <p:nvPr/>
        </p:nvSpPr>
        <p:spPr>
          <a:xfrm>
            <a:off x="4279392" y="16457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279392" y="1792072"/>
            <a:ext cx="2651760" cy="548513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25112" y="1837792"/>
            <a:ext cx="2578608" cy="457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OK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application/json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342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1,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"juan@mail.com"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610" dirty="0"/>
          </a:p>
        </p:txBody>
      </p:sp>
      <p:sp>
        <p:nvSpPr>
          <p:cNvPr id="55" name="Text 53"/>
          <p:cNvSpPr txBox="1"/>
          <p:nvPr/>
        </p:nvSpPr>
        <p:spPr>
          <a:xfrm>
            <a:off x="6976872" y="1819491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estado</a:t>
            </a:r>
            <a:endParaRPr lang="en-US" sz="69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+ Código + Descripción</a:t>
            </a:r>
            <a:endParaRPr lang="en-US" sz="690" dirty="0"/>
          </a:p>
        </p:txBody>
      </p:sp>
      <p:sp>
        <p:nvSpPr>
          <p:cNvPr id="56" name="Text 54"/>
          <p:cNvSpPr txBox="1"/>
          <p:nvPr/>
        </p:nvSpPr>
        <p:spPr>
          <a:xfrm>
            <a:off x="6976872" y="197491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69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devuelve: json, html…</a:t>
            </a:r>
            <a:endParaRPr lang="en-US" sz="690" dirty="0"/>
          </a:p>
        </p:txBody>
      </p:sp>
      <p:sp>
        <p:nvSpPr>
          <p:cNvPr id="57" name="Text 55"/>
          <p:cNvSpPr txBox="1"/>
          <p:nvPr/>
        </p:nvSpPr>
        <p:spPr>
          <a:xfrm>
            <a:off x="6976872" y="2185149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69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pedido</a:t>
            </a:r>
            <a:endParaRPr lang="en-US" sz="690" dirty="0"/>
          </a:p>
        </p:txBody>
      </p:sp>
      <p:sp>
        <p:nvSpPr>
          <p:cNvPr id="58" name="Text 56"/>
          <p:cNvSpPr txBox="1"/>
          <p:nvPr/>
        </p:nvSpPr>
        <p:spPr>
          <a:xfrm>
            <a:off x="4279392" y="2386305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slide 11 muestra las tres partes por separado; acá van juntas en un POST, que sí lleva body.)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4279392" y="2560041"/>
            <a:ext cx="3639312" cy="347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≠ HTTPS: 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protege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(quién puede pedirlo);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protege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(que nadie lo lea en el camino). Token por HTTP = texto plano → en producción, </a:t>
            </a:r>
            <a:pPr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</a:t>
            </a:r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187952" y="3026664"/>
            <a:ext cx="3822192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51960" y="3081528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251960" y="3081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4489704" y="3067812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4279392" y="3310128"/>
            <a:ext cx="548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6016752" y="3310128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¿Body?</a:t>
            </a:r>
            <a:endParaRPr lang="en-US" sz="680" dirty="0"/>
          </a:p>
        </p:txBody>
      </p:sp>
      <p:sp>
        <p:nvSpPr>
          <p:cNvPr id="66" name="Text 64"/>
          <p:cNvSpPr txBox="1"/>
          <p:nvPr/>
        </p:nvSpPr>
        <p:spPr>
          <a:xfrm>
            <a:off x="4279392" y="3451860"/>
            <a:ext cx="548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40" dirty="0"/>
          </a:p>
        </p:txBody>
      </p:sp>
      <p:sp>
        <p:nvSpPr>
          <p:cNvPr id="67" name="Text 65"/>
          <p:cNvSpPr txBox="1"/>
          <p:nvPr/>
        </p:nvSpPr>
        <p:spPr>
          <a:xfrm>
            <a:off x="4846320" y="3451860"/>
            <a:ext cx="11887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un recurso o un listado</a:t>
            </a:r>
            <a:endParaRPr lang="en-US" sz="720" dirty="0"/>
          </a:p>
        </p:txBody>
      </p:sp>
      <p:sp>
        <p:nvSpPr>
          <p:cNvPr id="68" name="Text 66"/>
          <p:cNvSpPr txBox="1"/>
          <p:nvPr/>
        </p:nvSpPr>
        <p:spPr>
          <a:xfrm>
            <a:off x="6016752" y="3451860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40" dirty="0"/>
          </a:p>
        </p:txBody>
      </p:sp>
      <p:sp>
        <p:nvSpPr>
          <p:cNvPr id="69" name="Text 67"/>
          <p:cNvSpPr txBox="1"/>
          <p:nvPr/>
        </p:nvSpPr>
        <p:spPr>
          <a:xfrm>
            <a:off x="4279392" y="3593592"/>
            <a:ext cx="548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40" dirty="0"/>
          </a:p>
        </p:txBody>
      </p:sp>
      <p:sp>
        <p:nvSpPr>
          <p:cNvPr id="70" name="Text 68"/>
          <p:cNvSpPr txBox="1"/>
          <p:nvPr/>
        </p:nvSpPr>
        <p:spPr>
          <a:xfrm>
            <a:off x="4846320" y="3593592"/>
            <a:ext cx="11887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720" dirty="0"/>
          </a:p>
        </p:txBody>
      </p:sp>
      <p:sp>
        <p:nvSpPr>
          <p:cNvPr id="71" name="Text 69"/>
          <p:cNvSpPr txBox="1"/>
          <p:nvPr/>
        </p:nvSpPr>
        <p:spPr>
          <a:xfrm>
            <a:off x="6016752" y="3593592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0" dirty="0"/>
          </a:p>
        </p:txBody>
      </p:sp>
      <p:sp>
        <p:nvSpPr>
          <p:cNvPr id="72" name="Text 70"/>
          <p:cNvSpPr txBox="1"/>
          <p:nvPr/>
        </p:nvSpPr>
        <p:spPr>
          <a:xfrm>
            <a:off x="4279392" y="3735324"/>
            <a:ext cx="548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740" dirty="0"/>
          </a:p>
        </p:txBody>
      </p:sp>
      <p:sp>
        <p:nvSpPr>
          <p:cNvPr id="73" name="Text 71"/>
          <p:cNvSpPr txBox="1"/>
          <p:nvPr/>
        </p:nvSpPr>
        <p:spPr>
          <a:xfrm>
            <a:off x="4846320" y="3735324"/>
            <a:ext cx="11887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COMPLETO</a:t>
            </a:r>
            <a:endParaRPr lang="en-US" sz="720" dirty="0"/>
          </a:p>
        </p:txBody>
      </p:sp>
      <p:sp>
        <p:nvSpPr>
          <p:cNvPr id="74" name="Text 72"/>
          <p:cNvSpPr txBox="1"/>
          <p:nvPr/>
        </p:nvSpPr>
        <p:spPr>
          <a:xfrm>
            <a:off x="6016752" y="3735324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0" dirty="0"/>
          </a:p>
        </p:txBody>
      </p:sp>
      <p:sp>
        <p:nvSpPr>
          <p:cNvPr id="75" name="Text 73"/>
          <p:cNvSpPr txBox="1"/>
          <p:nvPr/>
        </p:nvSpPr>
        <p:spPr>
          <a:xfrm>
            <a:off x="4279392" y="3877056"/>
            <a:ext cx="548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740" dirty="0"/>
          </a:p>
        </p:txBody>
      </p:sp>
      <p:sp>
        <p:nvSpPr>
          <p:cNvPr id="76" name="Text 74"/>
          <p:cNvSpPr txBox="1"/>
          <p:nvPr/>
        </p:nvSpPr>
        <p:spPr>
          <a:xfrm>
            <a:off x="4846320" y="3877056"/>
            <a:ext cx="11887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PARCIAL</a:t>
            </a:r>
            <a:endParaRPr lang="en-US" sz="720" dirty="0"/>
          </a:p>
        </p:txBody>
      </p:sp>
      <p:sp>
        <p:nvSpPr>
          <p:cNvPr id="77" name="Text 75"/>
          <p:cNvSpPr txBox="1"/>
          <p:nvPr/>
        </p:nvSpPr>
        <p:spPr>
          <a:xfrm>
            <a:off x="6016752" y="3877056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0" dirty="0"/>
          </a:p>
        </p:txBody>
      </p:sp>
      <p:sp>
        <p:nvSpPr>
          <p:cNvPr id="78" name="Text 76"/>
          <p:cNvSpPr txBox="1"/>
          <p:nvPr/>
        </p:nvSpPr>
        <p:spPr>
          <a:xfrm>
            <a:off x="4279392" y="4018788"/>
            <a:ext cx="5486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740" dirty="0"/>
          </a:p>
        </p:txBody>
      </p:sp>
      <p:sp>
        <p:nvSpPr>
          <p:cNvPr id="79" name="Text 77"/>
          <p:cNvSpPr txBox="1"/>
          <p:nvPr/>
        </p:nvSpPr>
        <p:spPr>
          <a:xfrm>
            <a:off x="4846320" y="4018788"/>
            <a:ext cx="11887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</a:t>
            </a:r>
            <a:endParaRPr lang="en-US" sz="720" dirty="0"/>
          </a:p>
        </p:txBody>
      </p:sp>
      <p:sp>
        <p:nvSpPr>
          <p:cNvPr id="80" name="Text 78"/>
          <p:cNvSpPr txBox="1"/>
          <p:nvPr/>
        </p:nvSpPr>
        <p:spPr>
          <a:xfrm>
            <a:off x="6016752" y="4018788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6501384" y="3310128"/>
            <a:ext cx="141732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BFD3E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537960" y="3337560"/>
            <a:ext cx="1344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vs PATCH: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dice la norma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Todo → PUT; parcial → PATCH. En la industria verás PUT para todo; en la materia, la norma.</a:t>
            </a:r>
            <a:endParaRPr lang="en-US" sz="720" dirty="0"/>
          </a:p>
        </p:txBody>
      </p:sp>
      <p:sp>
        <p:nvSpPr>
          <p:cNvPr id="83" name="Text 81"/>
          <p:cNvSpPr txBox="1"/>
          <p:nvPr/>
        </p:nvSpPr>
        <p:spPr>
          <a:xfrm>
            <a:off x="4279392" y="4206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solo cuando mandás algo (POST, PUT, PATCH). 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GET y DELETE, el recurso va en la URL.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4187952" y="4654296"/>
            <a:ext cx="3822192" cy="1627632"/>
          </a:xfrm>
          <a:prstGeom prst="roundRect">
            <a:avLst>
              <a:gd name="adj" fmla="val 3371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51960" y="4709160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251960" y="4709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4489704" y="4695444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HTTPS · puertos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4279392" y="493776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4965192" y="493776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5879592" y="493776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4279392" y="507492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</a:t>
            </a:r>
            <a:endParaRPr lang="en-US" sz="700" dirty="0"/>
          </a:p>
        </p:txBody>
      </p:sp>
      <p:sp>
        <p:nvSpPr>
          <p:cNvPr id="92" name="Text 90"/>
          <p:cNvSpPr txBox="1"/>
          <p:nvPr/>
        </p:nvSpPr>
        <p:spPr>
          <a:xfrm>
            <a:off x="4965192" y="50749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93" name="Text 91"/>
          <p:cNvSpPr txBox="1"/>
          <p:nvPr/>
        </p:nvSpPr>
        <p:spPr>
          <a:xfrm>
            <a:off x="5879592" y="507492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4279392" y="521208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4965192" y="5212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cifrado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5879592" y="521208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TLS/SSL</a:t>
            </a:r>
            <a:endParaRPr lang="en-US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4279392" y="534924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4965192" y="534924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requerido</a:t>
            </a:r>
            <a:endParaRPr lang="en-US" sz="700" dirty="0"/>
          </a:p>
        </p:txBody>
      </p:sp>
      <p:sp>
        <p:nvSpPr>
          <p:cNvPr id="99" name="Text 97"/>
          <p:cNvSpPr txBox="1"/>
          <p:nvPr/>
        </p:nvSpPr>
        <p:spPr>
          <a:xfrm>
            <a:off x="5879592" y="534924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4279392" y="548640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700" dirty="0"/>
          </a:p>
        </p:txBody>
      </p:sp>
      <p:sp>
        <p:nvSpPr>
          <p:cNvPr id="101" name="Text 99"/>
          <p:cNvSpPr txBox="1"/>
          <p:nvPr/>
        </p:nvSpPr>
        <p:spPr>
          <a:xfrm>
            <a:off x="4965192" y="54864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desarrollo local</a:t>
            </a:r>
            <a:endParaRPr lang="en-US" sz="700" dirty="0"/>
          </a:p>
        </p:txBody>
      </p:sp>
      <p:sp>
        <p:nvSpPr>
          <p:cNvPr id="102" name="Text 100"/>
          <p:cNvSpPr txBox="1"/>
          <p:nvPr/>
        </p:nvSpPr>
        <p:spPr>
          <a:xfrm>
            <a:off x="5879592" y="548640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producción, siempre</a:t>
            </a:r>
            <a:endParaRPr lang="en-US" sz="700" dirty="0"/>
          </a:p>
        </p:txBody>
      </p:sp>
      <p:sp>
        <p:nvSpPr>
          <p:cNvPr id="103" name="Text 101"/>
          <p:cNvSpPr txBox="1"/>
          <p:nvPr/>
        </p:nvSpPr>
        <p:spPr>
          <a:xfrm>
            <a:off x="6931152" y="4937760"/>
            <a:ext cx="987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está deprecado: hoy es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certificado valida la identidad del servidor.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TPA: en la nube piden certificados.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4279392" y="5641848"/>
            <a:ext cx="3639312" cy="438912"/>
          </a:xfrm>
          <a:prstGeom prst="roundRect">
            <a:avLst>
              <a:gd name="adj" fmla="val 8333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315968" y="5669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puertos 0–1023 están reservados (80, 443, 22 = SSH).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mismo nodo, dos apps NO pueden escuchar en el mismo puerto: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2.° Spring Boot no arranca → cambiá el puerto en application.yml.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8147304" y="502920"/>
            <a:ext cx="3813048" cy="3419856"/>
          </a:xfrm>
          <a:prstGeom prst="roundRect">
            <a:avLst>
              <a:gd name="adj" fmla="val 1604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211312" y="557784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211312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8449056" y="544068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estado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238744" y="786384"/>
            <a:ext cx="696773" cy="329184"/>
          </a:xfrm>
          <a:prstGeom prst="roundRect">
            <a:avLst>
              <a:gd name="adj" fmla="val 11111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238744" y="786384"/>
            <a:ext cx="6967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1xx</a:t>
            </a:r>
            <a:endParaRPr lang="en-US" sz="8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informativas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972093" y="786384"/>
            <a:ext cx="696773" cy="329184"/>
          </a:xfrm>
          <a:prstGeom prst="roundRect">
            <a:avLst>
              <a:gd name="adj" fmla="val 11111"/>
            </a:avLst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8972093" y="786384"/>
            <a:ext cx="6967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</a:t>
            </a:r>
            <a:endParaRPr lang="en-US" sz="8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9705442" y="786384"/>
            <a:ext cx="696773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705442" y="786384"/>
            <a:ext cx="6967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</a:t>
            </a:r>
            <a:endParaRPr lang="en-US" sz="8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0438790" y="786384"/>
            <a:ext cx="696773" cy="329184"/>
          </a:xfrm>
          <a:prstGeom prst="roundRect">
            <a:avLst>
              <a:gd name="adj" fmla="val 11111"/>
            </a:avLst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10438790" y="786384"/>
            <a:ext cx="6967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</a:t>
            </a:r>
            <a:endParaRPr lang="en-US" sz="8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del CLIENTE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11172139" y="786384"/>
            <a:ext cx="696773" cy="329184"/>
          </a:xfrm>
          <a:prstGeom prst="roundRect">
            <a:avLst>
              <a:gd name="adj" fmla="val 11111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1172139" y="786384"/>
            <a:ext cx="6967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</a:t>
            </a:r>
            <a:endParaRPr lang="en-US" sz="8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del SERVIDOR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238744" y="1170432"/>
            <a:ext cx="363016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3B2A7A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275320" y="1197864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códigos los genera SIEMPRE el servidor. 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no dice quién lo emite: dice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quién fue la culpa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404 lo manda el servidor, pero el cliente pidió algo que no existe.</a:t>
            </a:r>
            <a:endParaRPr lang="en-US" sz="730" dirty="0"/>
          </a:p>
        </p:txBody>
      </p:sp>
      <p:sp>
        <p:nvSpPr>
          <p:cNvPr id="122" name="Text 120"/>
          <p:cNvSpPr txBox="1"/>
          <p:nvPr/>
        </p:nvSpPr>
        <p:spPr>
          <a:xfrm>
            <a:off x="8238744" y="1673352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E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OK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éxito genérico</a:t>
            </a:r>
            <a:endParaRPr lang="en-US" sz="690" dirty="0"/>
          </a:p>
        </p:txBody>
      </p:sp>
      <p:sp>
        <p:nvSpPr>
          <p:cNvPr id="123" name="Text 121"/>
          <p:cNvSpPr txBox="1"/>
          <p:nvPr/>
        </p:nvSpPr>
        <p:spPr>
          <a:xfrm>
            <a:off x="8238744" y="1805940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E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creó → natural de POST</a:t>
            </a:r>
            <a:endParaRPr lang="en-US" sz="690" dirty="0"/>
          </a:p>
        </p:txBody>
      </p:sp>
      <p:sp>
        <p:nvSpPr>
          <p:cNvPr id="124" name="Text 122"/>
          <p:cNvSpPr txBox="1"/>
          <p:nvPr/>
        </p:nvSpPr>
        <p:spPr>
          <a:xfrm>
            <a:off x="8238744" y="1938528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E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Content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bien, nada que devolver → DELETE</a:t>
            </a:r>
            <a:endParaRPr lang="en-US" sz="690" dirty="0"/>
          </a:p>
        </p:txBody>
      </p:sp>
      <p:sp>
        <p:nvSpPr>
          <p:cNvPr id="125" name="Text 123"/>
          <p:cNvSpPr txBox="1"/>
          <p:nvPr/>
        </p:nvSpPr>
        <p:spPr>
          <a:xfrm>
            <a:off x="8238744" y="2071116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302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Found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redirect</a:t>
            </a:r>
            <a:endParaRPr lang="en-US" sz="690" dirty="0"/>
          </a:p>
        </p:txBody>
      </p:sp>
      <p:sp>
        <p:nvSpPr>
          <p:cNvPr id="126" name="Text 124"/>
          <p:cNvSpPr txBox="1"/>
          <p:nvPr/>
        </p:nvSpPr>
        <p:spPr>
          <a:xfrm>
            <a:off x="8238744" y="2203704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Bad Request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mal formado / falta un parámetro</a:t>
            </a:r>
            <a:endParaRPr lang="en-US" sz="690" dirty="0"/>
          </a:p>
        </p:txBody>
      </p:sp>
      <p:sp>
        <p:nvSpPr>
          <p:cNvPr id="127" name="Text 125"/>
          <p:cNvSpPr txBox="1"/>
          <p:nvPr/>
        </p:nvSpPr>
        <p:spPr>
          <a:xfrm>
            <a:off x="8238744" y="2336292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Unauthorized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autenticado: «no sé quién sos»</a:t>
            </a:r>
            <a:endParaRPr lang="en-US" sz="690" dirty="0"/>
          </a:p>
        </p:txBody>
      </p:sp>
      <p:sp>
        <p:nvSpPr>
          <p:cNvPr id="128" name="Text 126"/>
          <p:cNvSpPr txBox="1"/>
          <p:nvPr/>
        </p:nvSpPr>
        <p:spPr>
          <a:xfrm>
            <a:off x="8238744" y="2468880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Forbidden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 permiso: «sé quién sos y no podés»</a:t>
            </a:r>
            <a:endParaRPr lang="en-US" sz="690" dirty="0"/>
          </a:p>
        </p:txBody>
      </p:sp>
      <p:sp>
        <p:nvSpPr>
          <p:cNvPr id="129" name="Text 127"/>
          <p:cNvSpPr txBox="1"/>
          <p:nvPr/>
        </p:nvSpPr>
        <p:spPr>
          <a:xfrm>
            <a:off x="8238744" y="2601468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Found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existe</a:t>
            </a:r>
            <a:endParaRPr lang="en-US" sz="690" dirty="0"/>
          </a:p>
        </p:txBody>
      </p:sp>
      <p:sp>
        <p:nvSpPr>
          <p:cNvPr id="130" name="Text 128"/>
          <p:cNvSpPr txBox="1"/>
          <p:nvPr/>
        </p:nvSpPr>
        <p:spPr>
          <a:xfrm>
            <a:off x="8238744" y="2734056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Method Not Allowed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existe, pero no ese método</a:t>
            </a:r>
            <a:endParaRPr lang="en-US" sz="690" dirty="0"/>
          </a:p>
        </p:txBody>
      </p:sp>
      <p:sp>
        <p:nvSpPr>
          <p:cNvPr id="131" name="Text 129"/>
          <p:cNvSpPr txBox="1"/>
          <p:nvPr/>
        </p:nvSpPr>
        <p:spPr>
          <a:xfrm>
            <a:off x="8238744" y="2866644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 Server Error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explotó adentro</a:t>
            </a:r>
            <a:endParaRPr lang="en-US" sz="690" dirty="0"/>
          </a:p>
        </p:txBody>
      </p:sp>
      <p:sp>
        <p:nvSpPr>
          <p:cNvPr id="132" name="Text 130"/>
          <p:cNvSpPr txBox="1"/>
          <p:nvPr/>
        </p:nvSpPr>
        <p:spPr>
          <a:xfrm>
            <a:off x="8238744" y="2999232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Service Unavailable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disponible</a:t>
            </a:r>
            <a:endParaRPr lang="en-US" sz="690" dirty="0"/>
          </a:p>
        </p:txBody>
      </p:sp>
      <p:sp>
        <p:nvSpPr>
          <p:cNvPr id="133" name="Text 131"/>
          <p:cNvSpPr txBox="1"/>
          <p:nvPr/>
        </p:nvSpPr>
        <p:spPr>
          <a:xfrm>
            <a:off x="8238744" y="3131820"/>
            <a:ext cx="363016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504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Gateway Timeout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agotó la espera</a:t>
            </a:r>
            <a:endParaRPr lang="en-US" sz="690" dirty="0"/>
          </a:p>
        </p:txBody>
      </p:sp>
      <p:sp>
        <p:nvSpPr>
          <p:cNvPr id="134" name="Shape 132"/>
          <p:cNvSpPr/>
          <p:nvPr/>
        </p:nvSpPr>
        <p:spPr>
          <a:xfrm>
            <a:off x="8238744" y="3291840"/>
            <a:ext cx="3630168" cy="301752"/>
          </a:xfrm>
          <a:prstGeom prst="roundRect">
            <a:avLst>
              <a:gd name="adj" fmla="val 12121"/>
            </a:avLst>
          </a:prstGeom>
          <a:solidFill>
            <a:srgbClr val="FDECEA"/>
          </a:solidFill>
          <a:ln w="6350">
            <a:solidFill>
              <a:srgbClr val="B42318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275320" y="3319272"/>
            <a:ext cx="3557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1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PERLA DEL PROFE · </a:t>
            </a:r>
            <a:pPr indent="0" marL="0">
              <a:lnSpc>
                <a:spcPct val="95000"/>
              </a:lnSpc>
              <a:buNone/>
            </a:pPr>
            <a:r>
              <a:rPr lang="en-US" sz="71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grabación, 401 y 403 quedaron dichos al revés. </a:t>
            </a:r>
            <a:pPr indent="0" marL="0">
              <a:lnSpc>
                <a:spcPct val="95000"/>
              </a:lnSpc>
              <a:buNone/>
            </a:pPr>
            <a:r>
              <a:rPr lang="en-US" sz="71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un lapsus: en el parcial, usá el estándar.</a:t>
            </a:r>
            <a:endParaRPr lang="en-US" sz="710" dirty="0"/>
          </a:p>
        </p:txBody>
      </p:sp>
      <p:sp>
        <p:nvSpPr>
          <p:cNvPr id="136" name="Text 134"/>
          <p:cNvSpPr txBox="1"/>
          <p:nvPr/>
        </p:nvSpPr>
        <p:spPr>
          <a:xfrm>
            <a:off x="8238744" y="363931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500 se devuelven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genéricos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(dar detalle ayuda a un atacante). Respetar los códigos =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los servicios del TPA.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8147304" y="3995928"/>
            <a:ext cx="3813048" cy="2706624"/>
          </a:xfrm>
          <a:prstGeom prst="roundRect">
            <a:avLst>
              <a:gd name="adj" fmla="val 2027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211312" y="4050792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8211312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40" name="Text 138"/>
          <p:cNvSpPr txBox="1"/>
          <p:nvPr/>
        </p:nvSpPr>
        <p:spPr>
          <a:xfrm>
            <a:off x="8449056" y="4037076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Web: qué pasa al entrar a una URL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8238744" y="429768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F5FA8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8238744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9564624" y="4251960"/>
            <a:ext cx="914400" cy="384048"/>
          </a:xfrm>
          <a:prstGeom prst="cloud">
            <a:avLst/>
          </a:prstGeom>
          <a:solidFill>
            <a:srgbClr val="EEF4FB"/>
          </a:solidFill>
          <a:ln w="9525">
            <a:solidFill>
              <a:srgbClr val="1F5FA8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9564624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1027664" y="429768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F5FA8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1027664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9015984" y="4379976"/>
            <a:ext cx="594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48" name="Text 146"/>
          <p:cNvSpPr txBox="1"/>
          <p:nvPr/>
        </p:nvSpPr>
        <p:spPr>
          <a:xfrm>
            <a:off x="9089136" y="426110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req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10451592" y="4379976"/>
            <a:ext cx="57607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50" name="Text 148"/>
          <p:cNvSpPr txBox="1"/>
          <p:nvPr/>
        </p:nvSpPr>
        <p:spPr>
          <a:xfrm>
            <a:off x="10524744" y="426110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req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 flipH="1">
            <a:off x="10451592" y="4517136"/>
            <a:ext cx="57607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52" name="Text 150"/>
          <p:cNvSpPr txBox="1"/>
          <p:nvPr/>
        </p:nvSpPr>
        <p:spPr>
          <a:xfrm>
            <a:off x="10506456" y="452628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resp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 flipH="1">
            <a:off x="9015984" y="4517136"/>
            <a:ext cx="5943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54" name="Text 152"/>
          <p:cNvSpPr txBox="1"/>
          <p:nvPr/>
        </p:nvSpPr>
        <p:spPr>
          <a:xfrm>
            <a:off x="9089136" y="452628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resp</a:t>
            </a:r>
            <a:endParaRPr lang="en-US" sz="600" dirty="0"/>
          </a:p>
        </p:txBody>
      </p:sp>
      <p:sp>
        <p:nvSpPr>
          <p:cNvPr id="155" name="Shape 153"/>
          <p:cNvSpPr/>
          <p:nvPr/>
        </p:nvSpPr>
        <p:spPr>
          <a:xfrm>
            <a:off x="8238744" y="4750308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8238744" y="475030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57" name="Text 155"/>
          <p:cNvSpPr txBox="1"/>
          <p:nvPr/>
        </p:nvSpPr>
        <p:spPr>
          <a:xfrm>
            <a:off x="8421624" y="4736592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Escribís </a:t>
            </a:r>
            <a:pPr indent="0" marL="0">
              <a:lnSpc>
                <a:spcPct val="95000"/>
              </a:lnSpc>
              <a:buNone/>
            </a:pPr>
            <a:r>
              <a:rPr lang="en-US" sz="6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https://www.google.com</a:t>
            </a:r>
            <a:endParaRPr lang="en-US" sz="720" dirty="0"/>
          </a:p>
        </p:txBody>
      </p:sp>
      <p:sp>
        <p:nvSpPr>
          <p:cNvPr id="158" name="Shape 156"/>
          <p:cNvSpPr/>
          <p:nvPr/>
        </p:nvSpPr>
        <p:spPr>
          <a:xfrm>
            <a:off x="8238744" y="4913071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238744" y="4913071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0" name="Text 158"/>
          <p:cNvSpPr txBox="1"/>
          <p:nvPr/>
        </p:nvSpPr>
        <p:spPr>
          <a:xfrm>
            <a:off x="8421624" y="4899355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dominio → IP (o desde la caché)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8238744" y="5075834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8238744" y="507583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63" name="Text 161"/>
          <p:cNvSpPr txBox="1"/>
          <p:nvPr/>
        </p:nvSpPr>
        <p:spPr>
          <a:xfrm>
            <a:off x="8421624" y="5062118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720" dirty="0"/>
          </a:p>
        </p:txBody>
      </p:sp>
      <p:sp>
        <p:nvSpPr>
          <p:cNvPr id="164" name="Shape 162"/>
          <p:cNvSpPr/>
          <p:nvPr/>
        </p:nvSpPr>
        <p:spPr>
          <a:xfrm>
            <a:off x="8238744" y="5238598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8238744" y="523859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166" name="Text 164"/>
          <p:cNvSpPr txBox="1"/>
          <p:nvPr/>
        </p:nvSpPr>
        <p:spPr>
          <a:xfrm>
            <a:off x="8421624" y="5224882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negocia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 es HTTPS)</a:t>
            </a:r>
            <a:endParaRPr lang="en-US" sz="720" dirty="0"/>
          </a:p>
        </p:txBody>
      </p:sp>
      <p:sp>
        <p:nvSpPr>
          <p:cNvPr id="167" name="Shape 165"/>
          <p:cNvSpPr/>
          <p:nvPr/>
        </p:nvSpPr>
        <p:spPr>
          <a:xfrm>
            <a:off x="8238744" y="5401361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8238744" y="5401361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169" name="Text 167"/>
          <p:cNvSpPr txBox="1"/>
          <p:nvPr/>
        </p:nvSpPr>
        <p:spPr>
          <a:xfrm>
            <a:off x="8421624" y="5387645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GET /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 raíz)</a:t>
            </a:r>
            <a:endParaRPr lang="en-US" sz="720" dirty="0"/>
          </a:p>
        </p:txBody>
      </p:sp>
      <p:sp>
        <p:nvSpPr>
          <p:cNvPr id="170" name="Shape 168"/>
          <p:cNvSpPr/>
          <p:nvPr/>
        </p:nvSpPr>
        <p:spPr>
          <a:xfrm>
            <a:off x="8238744" y="5564124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8238744" y="556412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172" name="Text 170"/>
          <p:cNvSpPr txBox="1"/>
          <p:nvPr/>
        </p:nvSpPr>
        <p:spPr>
          <a:xfrm>
            <a:off x="8421624" y="5550408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devuelve el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(text/html)</a:t>
            </a:r>
            <a:endParaRPr lang="en-US" sz="720" dirty="0"/>
          </a:p>
        </p:txBody>
      </p:sp>
      <p:sp>
        <p:nvSpPr>
          <p:cNvPr id="173" name="Shape 171"/>
          <p:cNvSpPr/>
          <p:nvPr/>
        </p:nvSpPr>
        <p:spPr>
          <a:xfrm>
            <a:off x="8238744" y="5726887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8238744" y="5726887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175" name="Text 173"/>
          <p:cNvSpPr txBox="1"/>
          <p:nvPr/>
        </p:nvSpPr>
        <p:spPr>
          <a:xfrm>
            <a:off x="8421624" y="5713171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bajan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JS e imágenes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uno es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request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 cacheado no se pide)</a:t>
            </a:r>
            <a:endParaRPr lang="en-US" sz="720" dirty="0"/>
          </a:p>
        </p:txBody>
      </p:sp>
      <p:sp>
        <p:nvSpPr>
          <p:cNvPr id="176" name="Shape 174"/>
          <p:cNvSpPr/>
          <p:nvPr/>
        </p:nvSpPr>
        <p:spPr>
          <a:xfrm>
            <a:off x="8238744" y="5889650"/>
            <a:ext cx="128016" cy="128016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8238744" y="588965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178" name="Text 176"/>
          <p:cNvSpPr txBox="1"/>
          <p:nvPr/>
        </p:nvSpPr>
        <p:spPr>
          <a:xfrm>
            <a:off x="8421624" y="5875934"/>
            <a:ext cx="34472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</a:t>
            </a:r>
            <a:endParaRPr lang="en-US" sz="720" dirty="0"/>
          </a:p>
        </p:txBody>
      </p:sp>
      <p:sp>
        <p:nvSpPr>
          <p:cNvPr id="179" name="Shape 177"/>
          <p:cNvSpPr/>
          <p:nvPr/>
        </p:nvSpPr>
        <p:spPr>
          <a:xfrm>
            <a:off x="8238744" y="6056986"/>
            <a:ext cx="3630168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3B2A7A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8275320" y="608441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cliente es?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liviano: 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arma la vista y el navegador solo la renderiza. Una SPA con React sería pesado.</a:t>
            </a:r>
            <a:endParaRPr lang="en-US" sz="730" dirty="0"/>
          </a:p>
        </p:txBody>
      </p:sp>
      <p:sp>
        <p:nvSpPr>
          <p:cNvPr id="181" name="Text 179"/>
          <p:cNvSpPr txBox="1"/>
          <p:nvPr/>
        </p:nvSpPr>
        <p:spPr>
          <a:xfrm>
            <a:off x="8238744" y="643189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Network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(DevTools) muestra todo en vivo: método, código, :443, headers y la cascada de recursos.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CLASE 02 ·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 API REST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1097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clase · 3/4 · 01/04/2026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502920"/>
            <a:ext cx="3822192" cy="1938528"/>
          </a:xfrm>
          <a:prstGeom prst="roundRect">
            <a:avLst>
              <a:gd name="adj" fmla="val 2830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55778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5440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API?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8638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Interface: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herramientas, definiciones y protocolos para que un producto se comunique con otros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saber cómo se implementan por dentro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 la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componente (clase 1), escrita en concreto.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1143000" cy="9372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19072"/>
            <a:ext cx="658368" cy="457200"/>
          </a:xfrm>
          <a:prstGeom prst="ellipse">
            <a:avLst/>
          </a:prstGeom>
          <a:solidFill>
            <a:srgbClr val="D5EDE0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508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17373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70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5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distribuida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1325880"/>
            <a:ext cx="23134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n.º 1: creer que toda API es web.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5 ejemplos de la cátedra es remoto:</a:t>
            </a:r>
            <a:endParaRPr lang="en-US" sz="71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API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(biblioteca) ·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(estándar ORM) ·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(BD relacional) ·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Win32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(Windows) ·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(Linux).</a:t>
            </a:r>
            <a:endParaRPr lang="en-US" sz="71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1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cualquier interfaz que un componente expone. API REST = el caso web y distribuido, por HTTP.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228600" y="2514600"/>
            <a:ext cx="3822192" cy="1993392"/>
          </a:xfrm>
          <a:prstGeom prst="roundRect">
            <a:avLst>
              <a:gd name="adj" fmla="val 2752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56946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" y="2569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" y="255574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REST?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27980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State Transfer: 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diseño de comunicación</a:t>
            </a:r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cliente y servidor, definido por criterios.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099816"/>
            <a:ext cx="3639312" cy="32004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 w="635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" y="3127248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1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PERLA DEL PROFE · </a:t>
            </a:r>
            <a:pPr indent="0" marL="0">
              <a:lnSpc>
                <a:spcPct val="95000"/>
              </a:lnSpc>
              <a:buNone/>
            </a:pPr>
            <a:r>
              <a:rPr lang="en-US" sz="71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cátedra, NO es estilo arquitectónico ni patrón de diseño. </a:t>
            </a:r>
            <a:pPr indent="0" marL="0">
              <a:lnSpc>
                <a:spcPct val="95000"/>
              </a:lnSpc>
              <a:buNone/>
            </a:pPr>
            <a:r>
              <a:rPr lang="en-US" sz="71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(Fielding) sí lo llama estilo arquitectónico: en el parcial, respondé con la cátedra.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E7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" y="34930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737360" y="349300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E7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3493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Server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14400" y="3566160"/>
            <a:ext cx="8229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41832" y="342900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580" dirty="0"/>
          </a:p>
        </p:txBody>
      </p:sp>
      <p:sp>
        <p:nvSpPr>
          <p:cNvPr id="27" name="Shape 25"/>
          <p:cNvSpPr/>
          <p:nvPr/>
        </p:nvSpPr>
        <p:spPr>
          <a:xfrm flipH="1">
            <a:off x="914400" y="3685032"/>
            <a:ext cx="82296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41832" y="3694176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58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3447288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qué: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ponerse de acuerdo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negociar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«Te expongo una API REST» = 5 acuerdos gratis 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(≠ los 5 criterios de ⑲)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" y="3922776"/>
            <a:ext cx="69860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7620">
            <a:solidFill>
              <a:srgbClr val="1E7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0040" y="3922776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1055218" y="3922776"/>
            <a:ext cx="69860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7620">
            <a:solidFill>
              <a:srgbClr val="1E7A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5218" y="3922776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verbos HTTP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1790395" y="3922776"/>
            <a:ext cx="69860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7620">
            <a:solidFill>
              <a:srgbClr val="1E7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90395" y="3922776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códigos HTTP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2525573" y="3922776"/>
            <a:ext cx="69860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7620">
            <a:solidFill>
              <a:srgbClr val="1E7A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25573" y="3922776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recursos/URI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3260750" y="3922776"/>
            <a:ext cx="69860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7620">
            <a:solidFill>
              <a:srgbClr val="1E7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60750" y="3922776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JSON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228600" y="4581144"/>
            <a:ext cx="3822192" cy="2075688"/>
          </a:xfrm>
          <a:prstGeom prst="roundRect">
            <a:avLst>
              <a:gd name="adj" fmla="val 2643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" y="4636008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2608" y="4636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30352" y="4622292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20040" y="486460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Notation: 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liviano y legible, simple para humanos y para máquinas.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tipos: 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número, booleano, array, objeto, null.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320040" y="5266944"/>
            <a:ext cx="2103120" cy="1035558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5760" y="5312664"/>
            <a:ext cx="2029968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42,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"María García"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"activo"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true,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"usuario"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"direccion"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"ciudad"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"Buenos Aires"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"Argentina"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0" dirty="0"/>
          </a:p>
        </p:txBody>
      </p:sp>
      <p:sp>
        <p:nvSpPr>
          <p:cNvPr id="47" name="Text 45"/>
          <p:cNvSpPr txBox="1"/>
          <p:nvPr/>
        </p:nvSpPr>
        <p:spPr>
          <a:xfrm>
            <a:off x="2468880" y="5399418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número</a:t>
            </a:r>
            <a:endParaRPr lang="en-US" sz="640" dirty="0"/>
          </a:p>
        </p:txBody>
      </p:sp>
      <p:sp>
        <p:nvSpPr>
          <p:cNvPr id="48" name="Text 46"/>
          <p:cNvSpPr txBox="1"/>
          <p:nvPr/>
        </p:nvSpPr>
        <p:spPr>
          <a:xfrm>
            <a:off x="2468880" y="549383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string</a:t>
            </a:r>
            <a:endParaRPr lang="en-US" sz="640" dirty="0"/>
          </a:p>
        </p:txBody>
      </p:sp>
      <p:sp>
        <p:nvSpPr>
          <p:cNvPr id="49" name="Text 47"/>
          <p:cNvSpPr txBox="1"/>
          <p:nvPr/>
        </p:nvSpPr>
        <p:spPr>
          <a:xfrm>
            <a:off x="2468880" y="5588241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booleano (sin comillas)</a:t>
            </a:r>
            <a:endParaRPr lang="en-US" sz="640" dirty="0"/>
          </a:p>
        </p:txBody>
      </p:sp>
      <p:sp>
        <p:nvSpPr>
          <p:cNvPr id="50" name="Text 48"/>
          <p:cNvSpPr txBox="1"/>
          <p:nvPr/>
        </p:nvSpPr>
        <p:spPr>
          <a:xfrm>
            <a:off x="2468880" y="5682653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array</a:t>
            </a:r>
            <a:endParaRPr lang="en-US" sz="640" dirty="0"/>
          </a:p>
        </p:txBody>
      </p:sp>
      <p:sp>
        <p:nvSpPr>
          <p:cNvPr id="51" name="Text 49"/>
          <p:cNvSpPr txBox="1"/>
          <p:nvPr/>
        </p:nvSpPr>
        <p:spPr>
          <a:xfrm>
            <a:off x="2468880" y="5777065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objeto anidado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2459736" y="5898909"/>
            <a:ext cx="1499616" cy="493776"/>
          </a:xfrm>
          <a:prstGeom prst="roundRect">
            <a:avLst>
              <a:gd name="adj" fmla="val 7407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496312" y="5926341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(booleano) ≠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(string). JSON no tiene undefined: solo null.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187952" y="502920"/>
            <a:ext cx="3822192" cy="2697480"/>
          </a:xfrm>
          <a:prstGeom prst="roundRect">
            <a:avLst>
              <a:gd name="adj" fmla="val 2034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51960" y="55778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251960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4489704" y="544068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criterios de REST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4279392" y="786384"/>
            <a:ext cx="363931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 apoya sobre HTTP.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inventa nada.</a:t>
            </a:r>
            <a:endParaRPr lang="en-US" sz="900" dirty="0"/>
          </a:p>
          <a:p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Cada request es autocontenida: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toda la info y solo espera una response. Es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convertido en principio de diseño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(diapo 2). Solicitud → respuesta → FIN; si querés otra cosa, otra solicitud completa.</a:t>
            </a:r>
            <a:endParaRPr lang="en-US" sz="900" dirty="0"/>
          </a:p>
          <a:p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Usa los verbos HTTP: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crea · GET obtiene · PUT modifica · PATCH modifica parcial · DELETE borra (tabla en la diapo 2).</a:t>
            </a:r>
            <a:endParaRPr lang="en-US" sz="900" dirty="0"/>
          </a:p>
          <a:p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Recursos identificados por URI.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Ojo, URI ≠ URL: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vs Locator; en REST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Recurso = cualquier entidad (usuarios, ventas, donaciones), con su id unívoco en la ruta: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/clientes/5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Formato JSON (o XML).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es el default porque es 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liviano</a:t>
            </a:r>
            <a:pPr indent="0" marL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XML repite cada etiqueta (apertura y cierre).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87952" y="3273552"/>
            <a:ext cx="3822192" cy="2103120"/>
          </a:xfrm>
          <a:prstGeom prst="roundRect">
            <a:avLst>
              <a:gd name="adj" fmla="val 2609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51960" y="3328416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251960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4489704" y="3314700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REST: recurso User (slides 27-29)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279392" y="3557016"/>
            <a:ext cx="355701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315968" y="35570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20" dirty="0"/>
          </a:p>
        </p:txBody>
      </p:sp>
      <p:sp>
        <p:nvSpPr>
          <p:cNvPr id="65" name="Text 63"/>
          <p:cNvSpPr txBox="1"/>
          <p:nvPr/>
        </p:nvSpPr>
        <p:spPr>
          <a:xfrm>
            <a:off x="4882896" y="35570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720" dirty="0"/>
          </a:p>
        </p:txBody>
      </p:sp>
      <p:sp>
        <p:nvSpPr>
          <p:cNvPr id="66" name="Text 64"/>
          <p:cNvSpPr txBox="1"/>
          <p:nvPr/>
        </p:nvSpPr>
        <p:spPr>
          <a:xfrm>
            <a:off x="5541264" y="35570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todos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7004304" y="3557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279392" y="3739896"/>
            <a:ext cx="3557016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315968" y="37398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20" dirty="0"/>
          </a:p>
        </p:txBody>
      </p:sp>
      <p:sp>
        <p:nvSpPr>
          <p:cNvPr id="70" name="Text 68"/>
          <p:cNvSpPr txBox="1"/>
          <p:nvPr/>
        </p:nvSpPr>
        <p:spPr>
          <a:xfrm>
            <a:off x="4882896" y="37398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/users/1</a:t>
            </a:r>
            <a:endParaRPr lang="en-US" sz="720" dirty="0"/>
          </a:p>
        </p:txBody>
      </p:sp>
      <p:sp>
        <p:nvSpPr>
          <p:cNvPr id="71" name="Text 69"/>
          <p:cNvSpPr txBox="1"/>
          <p:nvPr/>
        </p:nvSpPr>
        <p:spPr>
          <a:xfrm>
            <a:off x="5541264" y="37398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el usuario 1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7004304" y="37398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279392" y="3922776"/>
            <a:ext cx="355701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315968" y="392277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20" dirty="0"/>
          </a:p>
        </p:txBody>
      </p:sp>
      <p:sp>
        <p:nvSpPr>
          <p:cNvPr id="75" name="Text 73"/>
          <p:cNvSpPr txBox="1"/>
          <p:nvPr/>
        </p:nvSpPr>
        <p:spPr>
          <a:xfrm>
            <a:off x="4882896" y="39227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</a:t>
            </a:r>
            <a:endParaRPr lang="en-US" sz="720" dirty="0"/>
          </a:p>
        </p:txBody>
      </p:sp>
      <p:sp>
        <p:nvSpPr>
          <p:cNvPr id="76" name="Text 74"/>
          <p:cNvSpPr txBox="1"/>
          <p:nvPr/>
        </p:nvSpPr>
        <p:spPr>
          <a:xfrm>
            <a:off x="5541264" y="39227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(datos en el body)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7004304" y="39227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279392" y="4105656"/>
            <a:ext cx="3557016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315968" y="41056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720" dirty="0"/>
          </a:p>
        </p:txBody>
      </p:sp>
      <p:sp>
        <p:nvSpPr>
          <p:cNvPr id="80" name="Text 78"/>
          <p:cNvSpPr txBox="1"/>
          <p:nvPr/>
        </p:nvSpPr>
        <p:spPr>
          <a:xfrm>
            <a:off x="4882896" y="4105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/users/1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5541264" y="4105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(datos en el body)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7004304" y="41056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279392" y="4288536"/>
            <a:ext cx="3557016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315968" y="42885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720" dirty="0"/>
          </a:p>
        </p:txBody>
      </p:sp>
      <p:sp>
        <p:nvSpPr>
          <p:cNvPr id="85" name="Text 83"/>
          <p:cNvSpPr txBox="1"/>
          <p:nvPr/>
        </p:nvSpPr>
        <p:spPr>
          <a:xfrm>
            <a:off x="4882896" y="42885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/users/1</a:t>
            </a:r>
            <a:endParaRPr lang="en-US" sz="720" dirty="0"/>
          </a:p>
        </p:txBody>
      </p:sp>
      <p:sp>
        <p:nvSpPr>
          <p:cNvPr id="86" name="Text 84"/>
          <p:cNvSpPr txBox="1"/>
          <p:nvPr/>
        </p:nvSpPr>
        <p:spPr>
          <a:xfrm>
            <a:off x="5541264" y="42885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7004304" y="42885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872984" y="3831336"/>
            <a:ext cx="73152" cy="0"/>
          </a:xfrm>
          <a:prstGeom prst="line">
            <a:avLst/>
          </a:prstGeom>
          <a:noFill/>
          <a:ln w="12700">
            <a:solidFill>
              <a:srgbClr val="C2620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46136" y="3831336"/>
            <a:ext cx="0" cy="365760"/>
          </a:xfrm>
          <a:prstGeom prst="line">
            <a:avLst/>
          </a:prstGeom>
          <a:noFill/>
          <a:ln w="12700">
            <a:solidFill>
              <a:srgbClr val="C2620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7872984" y="4197096"/>
            <a:ext cx="73152" cy="0"/>
          </a:xfrm>
          <a:prstGeom prst="line">
            <a:avLst/>
          </a:prstGeom>
          <a:noFill/>
          <a:ln w="12700">
            <a:solidFill>
              <a:srgbClr val="C2620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79392" y="4498848"/>
            <a:ext cx="3639312" cy="210312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C2620E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315968" y="4526280"/>
            <a:ext cx="3566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ruta, distinto verbo: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identifica el recurso; el verbo dice qué le hacés.</a:t>
            </a:r>
            <a:endParaRPr lang="en-US" sz="680" dirty="0"/>
          </a:p>
        </p:txBody>
      </p:sp>
      <p:sp>
        <p:nvSpPr>
          <p:cNvPr id="93" name="Text 91"/>
          <p:cNvSpPr txBox="1"/>
          <p:nvPr/>
        </p:nvSpPr>
        <p:spPr>
          <a:xfrm>
            <a:off x="4279392" y="47457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(verbo en la ruta): </a:t>
            </a:r>
            <a:pPr indent="0" marL="0">
              <a:lnSpc>
                <a:spcPct val="95000"/>
              </a:lnSpc>
              <a:buNone/>
            </a:pPr>
            <a:r>
              <a:rPr lang="en-US" sz="620" strike="sngStrike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/users/obtenerUsuarioPorId/1 · POST /users/actualizarUsuario · GET /users/borrar/1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187952" y="5449824"/>
            <a:ext cx="3822192" cy="1243584"/>
          </a:xfrm>
          <a:prstGeom prst="roundRect">
            <a:avLst>
              <a:gd name="adj" fmla="val 4412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251960" y="5504688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251960" y="5504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4489704" y="5490972"/>
            <a:ext cx="3456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(slide 30)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4279392" y="5733288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llevan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recursos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(sustantivos):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/users, /donaciones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verbos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las rutas: la acción la da el verbo HTTP.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los códigos de estado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decir cómo terminó: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6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+ {"error": …}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 → 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pPr indent="0" marL="0">
              <a:lnSpc>
                <a:spcPct val="95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147304" y="502920"/>
            <a:ext cx="3813048" cy="2834640"/>
          </a:xfrm>
          <a:prstGeom prst="roundRect">
            <a:avLst>
              <a:gd name="adj" fmla="val 1935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11312" y="557784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211312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8449056" y="544068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«a rajatabla»: el costo (problema N+1)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238744" y="786384"/>
            <a:ext cx="3630168" cy="301244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284464" y="832104"/>
            <a:ext cx="355701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6"/>
              </a:lnSpc>
              <a:buNone/>
            </a:pPr>
            <a:r>
              <a:rPr lang="en-US" sz="7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/alumnos/12345</a:t>
            </a:r>
            <a:endParaRPr lang="en-US" sz="700" dirty="0"/>
          </a:p>
          <a:p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 { 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"Ever"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"cursadas"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307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</a:t>
            </a:r>
            <a:pPr indent="0" marL="0">
              <a:lnSpc>
                <a:spcPts val="826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}</a:t>
            </a:r>
            <a:endParaRPr lang="en-US" sz="700" dirty="0"/>
          </a:p>
        </p:txBody>
      </p:sp>
      <p:sp>
        <p:nvSpPr>
          <p:cNvPr id="105" name="Text 103"/>
          <p:cNvSpPr txBox="1"/>
          <p:nvPr/>
        </p:nvSpPr>
        <p:spPr>
          <a:xfrm>
            <a:off x="11000232" y="109677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solo los IDs</a:t>
            </a:r>
            <a:endParaRPr lang="en-US" sz="630" dirty="0"/>
          </a:p>
        </p:txBody>
      </p:sp>
      <p:sp>
        <p:nvSpPr>
          <p:cNvPr id="106" name="Shape 104"/>
          <p:cNvSpPr/>
          <p:nvPr/>
        </p:nvSpPr>
        <p:spPr>
          <a:xfrm>
            <a:off x="8238744" y="1270508"/>
            <a:ext cx="88011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238744" y="1270508"/>
            <a:ext cx="8801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/cursadas/101</a:t>
            </a:r>
            <a:endParaRPr lang="en-US" sz="620" dirty="0"/>
          </a:p>
        </p:txBody>
      </p:sp>
      <p:sp>
        <p:nvSpPr>
          <p:cNvPr id="108" name="Shape 106"/>
          <p:cNvSpPr/>
          <p:nvPr/>
        </p:nvSpPr>
        <p:spPr>
          <a:xfrm>
            <a:off x="9155430" y="1270508"/>
            <a:ext cx="88011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155430" y="1270508"/>
            <a:ext cx="8801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/cursadas/205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10072116" y="1270508"/>
            <a:ext cx="88011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0072116" y="1270508"/>
            <a:ext cx="8801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/cursadas/307</a:t>
            </a:r>
            <a:endParaRPr lang="en-US" sz="620" dirty="0"/>
          </a:p>
        </p:txBody>
      </p:sp>
      <p:sp>
        <p:nvSpPr>
          <p:cNvPr id="112" name="Shape 110"/>
          <p:cNvSpPr/>
          <p:nvPr/>
        </p:nvSpPr>
        <p:spPr>
          <a:xfrm>
            <a:off x="10988802" y="1270508"/>
            <a:ext cx="88011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0988802" y="1270508"/>
            <a:ext cx="8801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/cursadas/412</a:t>
            </a:r>
            <a:endParaRPr lang="en-US" sz="620" dirty="0"/>
          </a:p>
        </p:txBody>
      </p:sp>
      <p:sp>
        <p:nvSpPr>
          <p:cNvPr id="114" name="Text 112"/>
          <p:cNvSpPr txBox="1"/>
          <p:nvPr/>
        </p:nvSpPr>
        <p:spPr>
          <a:xfrm>
            <a:off x="8238744" y="1526540"/>
            <a:ext cx="3630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request para el alumno + N para el detalle → con 40 materias, 40 requests más (41 en total).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rajatabla, REST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mezcla entidades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recurso devuelve lo suyo.</a:t>
            </a:r>
            <a:endParaRPr lang="en-US" sz="800" dirty="0"/>
          </a:p>
          <a:p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industria se relaja con criterio →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vs RESTful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(qué tan REST es). Solución: 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pPr indent="0" marL="0">
              <a:lnSpc>
                <a:spcPct val="95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(agrega recursos, campos dinámicos; clase 30; puede aparecer en el TPA).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8238744" y="2706116"/>
            <a:ext cx="3630168" cy="237744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 w="6350">
            <a:solidFill>
              <a:srgbClr val="B42318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275320" y="2733548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PERLA DEL PROFE · </a:t>
            </a:r>
            <a:pPr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TPA: «lo respetamos a rajatabla. NO mezclar entidades.»</a:t>
            </a:r>
            <a:endParaRPr lang="en-US" sz="760" dirty="0"/>
          </a:p>
        </p:txBody>
      </p:sp>
      <p:sp>
        <p:nvSpPr>
          <p:cNvPr id="117" name="Text 115"/>
          <p:cNvSpPr txBox="1"/>
          <p:nvPr/>
        </p:nvSpPr>
        <p:spPr>
          <a:xfrm>
            <a:off x="8238744" y="3044444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Pregunta tipo: </a:t>
            </a:r>
            <a:pPr indent="0" marL="0">
              <a:lnSpc>
                <a:spcPct val="95000"/>
              </a:lnSpc>
              <a:buNone/>
            </a:pPr>
            <a:r>
              <a:rPr lang="en-US" sz="78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«¿Qué desventaja tiene REST y cómo la resolverías?»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8147304" y="3410712"/>
            <a:ext cx="3813048" cy="1298448"/>
          </a:xfrm>
          <a:prstGeom prst="roundRect">
            <a:avLst>
              <a:gd name="adj" fmla="val 4225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211312" y="3465576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8211312" y="34655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121" name="Text 119"/>
          <p:cNvSpPr txBox="1"/>
          <p:nvPr/>
        </p:nvSpPr>
        <p:spPr>
          <a:xfrm>
            <a:off x="8449056" y="3451860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API: dos ejes independientes</a:t>
            </a:r>
            <a:endParaRPr lang="en-US" sz="1000" dirty="0"/>
          </a:p>
        </p:txBody>
      </p:sp>
      <p:sp>
        <p:nvSpPr>
          <p:cNvPr id="122" name="Text 120"/>
          <p:cNvSpPr txBox="1"/>
          <p:nvPr/>
        </p:nvSpPr>
        <p:spPr>
          <a:xfrm>
            <a:off x="8878824" y="3675888"/>
            <a:ext cx="14950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</a:t>
            </a:r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 credencial)</a:t>
            </a:r>
            <a:endParaRPr lang="en-US" sz="680" dirty="0"/>
          </a:p>
        </p:txBody>
      </p:sp>
      <p:sp>
        <p:nvSpPr>
          <p:cNvPr id="123" name="Text 121"/>
          <p:cNvSpPr txBox="1"/>
          <p:nvPr/>
        </p:nvSpPr>
        <p:spPr>
          <a:xfrm>
            <a:off x="10373868" y="3675888"/>
            <a:ext cx="14950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pPr algn="ctr"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(registro + API key)</a:t>
            </a:r>
            <a:endParaRPr lang="en-US" sz="680" dirty="0"/>
          </a:p>
        </p:txBody>
      </p:sp>
      <p:sp>
        <p:nvSpPr>
          <p:cNvPr id="124" name="Text 122"/>
          <p:cNvSpPr txBox="1"/>
          <p:nvPr/>
        </p:nvSpPr>
        <p:spPr>
          <a:xfrm>
            <a:off x="8238744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</a:t>
            </a:r>
            <a:endParaRPr lang="en-US" sz="680" dirty="0"/>
          </a:p>
        </p:txBody>
      </p:sp>
      <p:sp>
        <p:nvSpPr>
          <p:cNvPr id="125" name="Shape 123"/>
          <p:cNvSpPr/>
          <p:nvPr/>
        </p:nvSpPr>
        <p:spPr>
          <a:xfrm>
            <a:off x="8897112" y="3858768"/>
            <a:ext cx="14584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2C9A0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933688" y="3840480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registrarte ni pagar</a:t>
            </a:r>
            <a:endParaRPr lang="en-US" sz="680" dirty="0"/>
          </a:p>
        </p:txBody>
      </p:sp>
      <p:sp>
        <p:nvSpPr>
          <p:cNvPr id="127" name="Shape 125"/>
          <p:cNvSpPr/>
          <p:nvPr/>
        </p:nvSpPr>
        <p:spPr>
          <a:xfrm>
            <a:off x="10392156" y="3858768"/>
            <a:ext cx="14584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2C9A0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0428732" y="3840480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registrás y no pagás (lo más común en APIs públicas serias)</a:t>
            </a:r>
            <a:endParaRPr lang="en-US" sz="680" dirty="0"/>
          </a:p>
        </p:txBody>
      </p:sp>
      <p:sp>
        <p:nvSpPr>
          <p:cNvPr id="129" name="Text 127"/>
          <p:cNvSpPr txBox="1"/>
          <p:nvPr/>
        </p:nvSpPr>
        <p:spPr>
          <a:xfrm>
            <a:off x="8238744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</a:t>
            </a:r>
            <a:endParaRPr lang="en-US" sz="680" dirty="0"/>
          </a:p>
        </p:txBody>
      </p:sp>
      <p:sp>
        <p:nvSpPr>
          <p:cNvPr id="130" name="Shape 128"/>
          <p:cNvSpPr/>
          <p:nvPr/>
        </p:nvSpPr>
        <p:spPr>
          <a:xfrm>
            <a:off x="8897112" y="4133088"/>
            <a:ext cx="14584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2C9A0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933688" y="4114800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(raro)</a:t>
            </a:r>
            <a:endParaRPr lang="en-US" sz="680" dirty="0"/>
          </a:p>
        </p:txBody>
      </p:sp>
      <p:sp>
        <p:nvSpPr>
          <p:cNvPr id="132" name="Shape 130"/>
          <p:cNvSpPr/>
          <p:nvPr/>
        </p:nvSpPr>
        <p:spPr>
          <a:xfrm>
            <a:off x="10392156" y="4133088"/>
            <a:ext cx="14584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2C9A0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428732" y="4114800"/>
            <a:ext cx="138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registrás y pagás</a:t>
            </a:r>
            <a:endParaRPr lang="en-US" sz="680" dirty="0"/>
          </a:p>
        </p:txBody>
      </p:sp>
      <p:sp>
        <p:nvSpPr>
          <p:cNvPr id="134" name="Text 132"/>
          <p:cNvSpPr txBox="1"/>
          <p:nvPr/>
        </p:nvSpPr>
        <p:spPr>
          <a:xfrm>
            <a:off x="8238744" y="4425696"/>
            <a:ext cx="3630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de la clase se usaron APIs abiertas y gratuitas.</a:t>
            </a:r>
            <a:endParaRPr lang="en-US" sz="660" dirty="0"/>
          </a:p>
        </p:txBody>
      </p:sp>
      <p:sp>
        <p:nvSpPr>
          <p:cNvPr id="135" name="Shape 133"/>
          <p:cNvSpPr/>
          <p:nvPr/>
        </p:nvSpPr>
        <p:spPr>
          <a:xfrm>
            <a:off x="8147304" y="4782312"/>
            <a:ext cx="3813048" cy="1892808"/>
          </a:xfrm>
          <a:prstGeom prst="roundRect">
            <a:avLst>
              <a:gd name="adj" fmla="val 2899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211312" y="4837176"/>
            <a:ext cx="182880" cy="182880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211312" y="4837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138" name="Text 136"/>
          <p:cNvSpPr txBox="1"/>
          <p:nvPr/>
        </p:nvSpPr>
        <p:spPr>
          <a:xfrm>
            <a:off x="8449056" y="4823460"/>
            <a:ext cx="3447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OpenAPI + Swagger</a:t>
            </a:r>
            <a:endParaRPr lang="en-US" sz="1000" dirty="0"/>
          </a:p>
        </p:txBody>
      </p:sp>
      <p:sp>
        <p:nvSpPr>
          <p:cNvPr id="139" name="Text 137"/>
          <p:cNvSpPr txBox="1"/>
          <p:nvPr/>
        </p:nvSpPr>
        <p:spPr>
          <a:xfrm>
            <a:off x="8238744" y="5065776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documentación no podés consumir una API, y cada sitio documenta distinto.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el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 </a:t>
            </a:r>
            <a:pPr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pPr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lo renderiza: rutas, parámetros, ejemplos y códigos.</a:t>
            </a:r>
            <a:endParaRPr lang="en-US" sz="730" dirty="0"/>
          </a:p>
        </p:txBody>
      </p:sp>
      <p:sp>
        <p:nvSpPr>
          <p:cNvPr id="140" name="Shape 138"/>
          <p:cNvSpPr/>
          <p:nvPr/>
        </p:nvSpPr>
        <p:spPr>
          <a:xfrm>
            <a:off x="8238744" y="5596128"/>
            <a:ext cx="3630168" cy="374675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8284464" y="5641848"/>
            <a:ext cx="3557016" cy="283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  /name/{name}   → busca un país por nombre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parámetro: name (string, en la ruta) · ej.: /name/Argentina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respuestas: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→ el país ·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→ no existe</a:t>
            </a:r>
            <a:endParaRPr lang="en-US" sz="630" dirty="0"/>
          </a:p>
        </p:txBody>
      </p:sp>
      <p:sp>
        <p:nvSpPr>
          <p:cNvPr id="142" name="Shape 140"/>
          <p:cNvSpPr/>
          <p:nvPr/>
        </p:nvSpPr>
        <p:spPr>
          <a:xfrm>
            <a:off x="8238744" y="6016752"/>
            <a:ext cx="3630168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3B2A7A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8275320" y="604418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TPA, en las dos direcciones: 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Swagger para consumir la API de la cátedra y a </a:t>
            </a:r>
            <a:pPr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escribirlo</a:t>
            </a:r>
            <a:pPr indent="0" marL="0">
              <a:lnSpc>
                <a:spcPct val="95000"/>
              </a:lnSpc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documentar las tuyas.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· CLASE 02 ·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consumir una API REST (repo rest-paises)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1097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clase · 4/4 · 01/04/2026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502920"/>
            <a:ext cx="3383280" cy="731520"/>
          </a:xfrm>
          <a:prstGeom prst="roundRect">
            <a:avLst>
              <a:gd name="adj" fmla="val 7500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557784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" y="557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54406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API: REST Countries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863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6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restcountries.com/v3.1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abierta y gratuita · 250+ países.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somos el cliente.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ruta concreta que el servicio expone: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/all · /name/{nombre} · /currency/{codigo} · /region/{region} · /capital/{capital}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1298448"/>
            <a:ext cx="3383280" cy="768096"/>
          </a:xfrm>
          <a:prstGeom prst="roundRect">
            <a:avLst>
              <a:gd name="adj" fmla="val 7143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353312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" y="1353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339596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navegador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581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+ Enter = HTTP GET. Siempre.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es un cliente HTTP. F12 → Network: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200 OK · :443 · application/json</a:t>
            </a:r>
            <a:endParaRPr lang="en-US" sz="70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Ojo, límite: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barra, solo GET. Un formulario HTML hace GET/POST; con JS se puede cualquier método, pero para probar a mano →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28600" y="2130552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185416"/>
            <a:ext cx="182880" cy="182880"/>
          </a:xfrm>
          <a:prstGeom prst="ellipse">
            <a:avLst/>
          </a:prstGeom>
          <a:solidFill>
            <a:srgbClr val="1E7A4F"/>
          </a:solidFill>
          <a:ln w="12700">
            <a:solidFill>
              <a:srgbClr val="1E7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" y="2185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" y="217170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Postman (cliente HTTP)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24140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(cualquiera) · URL · Authorization (APIs cerradas) · Headers · Body (POST/PUT/PATCH) · Send → código, ms, tamaño, body. </a:t>
            </a:r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de Postman es la anatomía de la request.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6350">
            <a:solidFill>
              <a:srgbClr val="EAF2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2889504"/>
            <a:ext cx="182880" cy="18288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2608" y="2889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287578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 vs query param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118104"/>
            <a:ext cx="3200400" cy="289255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3163824"/>
            <a:ext cx="3127248" cy="197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9"/>
              </a:lnSpc>
              <a:buNone/>
            </a:pPr>
            <a:r>
              <a:rPr lang="en-US" sz="6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.../v3.1/name/argentina</a:t>
            </a:r>
            <a:endParaRPr lang="en-US" sz="660" dirty="0"/>
          </a:p>
          <a:p>
            <a:pPr indent="0" marL="0">
              <a:lnSpc>
                <a:spcPts val="779"/>
              </a:lnSpc>
              <a:buNone/>
            </a:pPr>
            <a:r>
              <a:rPr lang="en-US" sz="66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.../v3.1/all?fields=name,flags&amp;currency=ars</a:t>
            </a:r>
            <a:endParaRPr lang="en-US" sz="66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315384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PATH: identifica el recurso</a:t>
            </a:r>
            <a:endParaRPr lang="en-US" sz="63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3434791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después del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clave=valor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unidos con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filtra / modifica la consulta.</a:t>
            </a:r>
            <a:endParaRPr lang="en-US" sz="68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3617671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→ ¿</a:t>
            </a:r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</a:t>
            </a:r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recurso?   Query → ¿</a:t>
            </a:r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quiero?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0040" y="3809695"/>
            <a:ext cx="3200400" cy="365760"/>
          </a:xfrm>
          <a:prstGeom prst="roundRect">
            <a:avLst>
              <a:gd name="adj" fmla="val 10000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6616" y="3837127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400 en vivo: </a:t>
            </a:r>
            <a:pPr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/all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pPr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400 «'fields' query parameter is required». 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API es distinta: siempre leé su documentación.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228600" y="4270248"/>
            <a:ext cx="3383280" cy="2057400"/>
          </a:xfrm>
          <a:prstGeom prst="roundRect">
            <a:avLst>
              <a:gd name="adj" fmla="val 2667"/>
            </a:avLst>
          </a:prstGeom>
          <a:solidFill>
            <a:srgbClr val="F1EEFA"/>
          </a:solidFill>
          <a:ln w="6350">
            <a:solidFill>
              <a:srgbClr val="F1EE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4325112"/>
            <a:ext cx="182880" cy="182880"/>
          </a:xfrm>
          <a:prstGeom prst="ellipse">
            <a:avLst/>
          </a:prstGeom>
          <a:solidFill>
            <a:srgbClr val="3B2A7A"/>
          </a:solidFill>
          <a:ln w="12700">
            <a:solidFill>
              <a:srgbClr val="3B2A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2608" y="4325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" y="4311396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proyecto: Spring Initializr y estructura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20040" y="4553712"/>
            <a:ext cx="16002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/ build: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Maven</a:t>
            </a:r>
            <a:endParaRPr lang="en-US" sz="680" dirty="0"/>
          </a:p>
        </p:txBody>
      </p:sp>
      <p:sp>
        <p:nvSpPr>
          <p:cNvPr id="35" name="Text 33"/>
          <p:cNvSpPr txBox="1"/>
          <p:nvPr/>
        </p:nvSpPr>
        <p:spPr>
          <a:xfrm>
            <a:off x="1920240" y="4553712"/>
            <a:ext cx="16002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4.0.5</a:t>
            </a:r>
            <a:endParaRPr lang="en-US" sz="680" dirty="0"/>
          </a:p>
        </p:txBody>
      </p:sp>
      <p:sp>
        <p:nvSpPr>
          <p:cNvPr id="36" name="Text 34"/>
          <p:cNvSpPr txBox="1"/>
          <p:nvPr/>
        </p:nvSpPr>
        <p:spPr>
          <a:xfrm>
            <a:off x="320040" y="4677156"/>
            <a:ext cx="16002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(todo el equipo, igual)</a:t>
            </a:r>
            <a:endParaRPr lang="en-US" sz="68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4677156"/>
            <a:ext cx="16002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ar.edu.utn.ba.ddsi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320040" y="4800600"/>
            <a:ext cx="16002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(.yml)</a:t>
            </a:r>
            <a:endParaRPr lang="en-US" sz="680" dirty="0"/>
          </a:p>
        </p:txBody>
      </p:sp>
      <p:sp>
        <p:nvSpPr>
          <p:cNvPr id="39" name="Text 37"/>
          <p:cNvSpPr txBox="1"/>
          <p:nvPr/>
        </p:nvSpPr>
        <p:spPr>
          <a:xfrm>
            <a:off x="1920240" y="480060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MVC · Config. Processor · DevTools · Lombok</a:t>
            </a:r>
            <a:endParaRPr lang="en-US" sz="680" dirty="0"/>
          </a:p>
        </p:txBody>
      </p:sp>
      <p:sp>
        <p:nvSpPr>
          <p:cNvPr id="40" name="Text 38"/>
          <p:cNvSpPr txBox="1"/>
          <p:nvPr/>
        </p:nvSpPr>
        <p:spPr>
          <a:xfrm>
            <a:off x="320040" y="50337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vs biblioteca: 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framework, </a:t>
            </a:r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 llama a tu código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 crea, lo conecta, lo ejecuta).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320040" y="5308092"/>
            <a:ext cx="3200400" cy="657911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" y="5731459"/>
            <a:ext cx="3163824" cy="944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" y="5825871"/>
            <a:ext cx="3163824" cy="944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" y="5353812"/>
            <a:ext cx="3127248" cy="566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proyecto/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 src/      ✓ main (java + resources) · test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 pom.xml   ✓ dependencias (= package.json)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 .mvn/     ✓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 .idea/    ✗ config local de IntelliJ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 target/   ✗ código compilado</a:t>
            </a:r>
            <a:endParaRPr lang="en-US" sz="630" dirty="0"/>
          </a:p>
        </p:txBody>
      </p:sp>
      <p:sp>
        <p:nvSpPr>
          <p:cNvPr id="45" name="Shape 43"/>
          <p:cNvSpPr/>
          <p:nvPr/>
        </p:nvSpPr>
        <p:spPr>
          <a:xfrm>
            <a:off x="320040" y="5993435"/>
            <a:ext cx="3200400" cy="210312"/>
          </a:xfrm>
          <a:prstGeom prst="roundRect">
            <a:avLst>
              <a:gd name="adj" fmla="val 1739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6616" y="6020867"/>
            <a:ext cx="3127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.idea/ y target/ → .gitignore. </a:t>
            </a:r>
            <a:pPr indent="0" marL="0">
              <a:lnSpc>
                <a:spcPct val="95000"/>
              </a:lnSpc>
              <a:buNone/>
            </a:pPr>
            <a:r>
              <a:rPr lang="en-US" sz="68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«Primera y última vez que lo digo»: lo miran en las entregas.</a:t>
            </a:r>
            <a:endParaRPr lang="en-US" sz="680" dirty="0"/>
          </a:p>
        </p:txBody>
      </p:sp>
      <p:sp>
        <p:nvSpPr>
          <p:cNvPr id="47" name="Text 45"/>
          <p:cNvSpPr txBox="1"/>
          <p:nvPr/>
        </p:nvSpPr>
        <p:spPr>
          <a:xfrm>
            <a:off x="3767328" y="502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4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construcción: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5001768" y="502920"/>
            <a:ext cx="1595628" cy="201168"/>
          </a:xfrm>
          <a:prstGeom prst="roundRect">
            <a:avLst>
              <a:gd name="adj" fmla="val 22727"/>
            </a:avLst>
          </a:prstGeom>
          <a:solidFill>
            <a:srgbClr val="F1EEFA"/>
          </a:solidFill>
          <a:ln w="7620">
            <a:solidFill>
              <a:srgbClr val="3B2A7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01768" y="502920"/>
            <a:ext cx="1595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interfaz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el contrato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6597396" y="5029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07124" y="502920"/>
            <a:ext cx="1595628" cy="201168"/>
          </a:xfrm>
          <a:prstGeom prst="roundRect">
            <a:avLst>
              <a:gd name="adj" fmla="val 22727"/>
            </a:avLst>
          </a:prstGeom>
          <a:solidFill>
            <a:srgbClr val="F1EEFA"/>
          </a:solidFill>
          <a:ln w="7620">
            <a:solidFill>
              <a:srgbClr val="3B2A7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707124" y="502920"/>
            <a:ext cx="1595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molde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DTO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8302752" y="5029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412480" y="502920"/>
            <a:ext cx="1595628" cy="201168"/>
          </a:xfrm>
          <a:prstGeom prst="roundRect">
            <a:avLst>
              <a:gd name="adj" fmla="val 22727"/>
            </a:avLst>
          </a:prstGeom>
          <a:solidFill>
            <a:srgbClr val="F1EEFA"/>
          </a:solidFill>
          <a:ln w="7620">
            <a:solidFill>
              <a:srgbClr val="3B2A7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412480" y="502920"/>
            <a:ext cx="1595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uso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el test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10008108" y="50292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117836" y="502920"/>
            <a:ext cx="1595628" cy="201168"/>
          </a:xfrm>
          <a:prstGeom prst="roundRect">
            <a:avLst>
              <a:gd name="adj" fmla="val 22727"/>
            </a:avLst>
          </a:prstGeom>
          <a:solidFill>
            <a:srgbClr val="F1EEFA"/>
          </a:solidFill>
          <a:ln w="7620">
            <a:solidFill>
              <a:srgbClr val="3B2A7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117836" y="502920"/>
            <a:ext cx="1595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conexión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llamada HTTP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3767328" y="777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El molde: el JSON que llega → el DTO que lo espeja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67328" y="969264"/>
            <a:ext cx="4023360" cy="752323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813048" y="1014984"/>
            <a:ext cx="3950208" cy="6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 {                                  ← SIEMPRE array, aunque venga un país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"common"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"Argentina"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"official"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"Argentine Republic"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"capital"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[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"Buenos Aires"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"Americas"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"currencies"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"Argentine peso"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"symbol"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 },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"cca2"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"AR"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 ]</a:t>
            </a:r>
            <a:endParaRPr lang="en-US" sz="630" dirty="0"/>
          </a:p>
        </p:txBody>
      </p:sp>
      <p:sp>
        <p:nvSpPr>
          <p:cNvPr id="62" name="Shape 60"/>
          <p:cNvSpPr/>
          <p:nvPr/>
        </p:nvSpPr>
        <p:spPr>
          <a:xfrm>
            <a:off x="7635240" y="1097166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635240" y="109716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80" dirty="0"/>
          </a:p>
        </p:txBody>
      </p:sp>
      <p:sp>
        <p:nvSpPr>
          <p:cNvPr id="64" name="Shape 62"/>
          <p:cNvSpPr/>
          <p:nvPr/>
        </p:nvSpPr>
        <p:spPr>
          <a:xfrm>
            <a:off x="7635240" y="1191578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635240" y="119157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7635240" y="1285989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635240" y="1285989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7635240" y="1380401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35240" y="138040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80" dirty="0"/>
          </a:p>
        </p:txBody>
      </p:sp>
      <p:sp>
        <p:nvSpPr>
          <p:cNvPr id="70" name="Shape 68"/>
          <p:cNvSpPr/>
          <p:nvPr/>
        </p:nvSpPr>
        <p:spPr>
          <a:xfrm>
            <a:off x="7635240" y="1474813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635240" y="1474813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80" dirty="0"/>
          </a:p>
        </p:txBody>
      </p:sp>
      <p:sp>
        <p:nvSpPr>
          <p:cNvPr id="72" name="Shape 70"/>
          <p:cNvSpPr/>
          <p:nvPr/>
        </p:nvSpPr>
        <p:spPr>
          <a:xfrm>
            <a:off x="3767328" y="1776451"/>
            <a:ext cx="4023360" cy="1224382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85616" y="2105406"/>
            <a:ext cx="3986784" cy="944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85616" y="2388641"/>
            <a:ext cx="3986784" cy="944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813048" y="1822171"/>
            <a:ext cx="3950208" cy="113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@JsonIgnoreProperties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(ignoreUnknown = true)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desconocido → se ignora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@NoArgsConstructor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@AllArgsConstructor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Lombok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Pais {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   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NombrePais nombre; 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otro DTO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"capital"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List&lt;String&gt; capitales;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 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 region;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"currencies"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Map&lt;String, DetalleMoneda&gt; monedas;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"cca2"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   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 cca2;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+ subregion, area, population, languages, cca3 · NombrePais: ídem anotaciones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NombrePais {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"common"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 comun;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"official"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 oficial; }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7635240" y="2093176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635240" y="2093176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7635240" y="2187588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635240" y="2187588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80" dirty="0"/>
          </a:p>
        </p:txBody>
      </p:sp>
      <p:sp>
        <p:nvSpPr>
          <p:cNvPr id="80" name="Shape 78"/>
          <p:cNvSpPr/>
          <p:nvPr/>
        </p:nvSpPr>
        <p:spPr>
          <a:xfrm>
            <a:off x="7635240" y="2282000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635240" y="2282000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80" dirty="0"/>
          </a:p>
        </p:txBody>
      </p:sp>
      <p:sp>
        <p:nvSpPr>
          <p:cNvPr id="82" name="Shape 80"/>
          <p:cNvSpPr/>
          <p:nvPr/>
        </p:nvSpPr>
        <p:spPr>
          <a:xfrm>
            <a:off x="7635240" y="2376411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635240" y="2376411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80" dirty="0"/>
          </a:p>
        </p:txBody>
      </p:sp>
      <p:sp>
        <p:nvSpPr>
          <p:cNvPr id="84" name="Shape 82"/>
          <p:cNvSpPr/>
          <p:nvPr/>
        </p:nvSpPr>
        <p:spPr>
          <a:xfrm>
            <a:off x="7635240" y="2470823"/>
            <a:ext cx="118872" cy="118872"/>
          </a:xfrm>
          <a:prstGeom prst="ellipse">
            <a:avLst/>
          </a:prstGeom>
          <a:solidFill>
            <a:srgbClr val="C2620E"/>
          </a:solidFill>
          <a:ln w="12700">
            <a:solidFill>
              <a:srgbClr val="C2620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635240" y="2470823"/>
            <a:ext cx="118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80" dirty="0"/>
          </a:p>
        </p:txBody>
      </p:sp>
      <p:sp>
        <p:nvSpPr>
          <p:cNvPr id="86" name="Text 84"/>
          <p:cNvSpPr txBox="1"/>
          <p:nvPr/>
        </p:nvSpPr>
        <p:spPr>
          <a:xfrm>
            <a:off x="3767328" y="304655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(Data Transfer Object)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clase sin lógica que solo transporta datos (un «molde»). Java es de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hay que declarar la forma del JSON de antemano (en JS, </a:t>
            </a:r>
            <a:pPr indent="0" marL="0">
              <a:lnSpc>
                <a:spcPct val="95000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listo). </a:t>
            </a:r>
            <a:pPr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puente entre idiomas (JSON en inglés, código en castellano); es de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JSON.parse de Java), no de Spring. </a:t>
            </a:r>
            <a:pPr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clave es impredecible (ARS, PEN…). Sin ignoreUnknown, un campo desconocido lanza excepción.</a:t>
            </a:r>
            <a:endParaRPr lang="en-US" sz="680" dirty="0"/>
          </a:p>
        </p:txBody>
      </p:sp>
      <p:sp>
        <p:nvSpPr>
          <p:cNvPr id="87" name="Text 85"/>
          <p:cNvSpPr txBox="1"/>
          <p:nvPr/>
        </p:nvSpPr>
        <p:spPr>
          <a:xfrm>
            <a:off x="3767328" y="35311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 Jackson el DTO: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767328" y="368663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DF1E4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803904" y="368663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algn="ctr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Pais()</a:t>
            </a:r>
            <a:endParaRPr lang="en-US" sz="66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@NoArgsConstructor</a:t>
            </a:r>
            <a:endParaRPr lang="en-US" sz="660" dirty="0"/>
          </a:p>
        </p:txBody>
      </p:sp>
      <p:sp>
        <p:nvSpPr>
          <p:cNvPr id="90" name="Text 88"/>
          <p:cNvSpPr txBox="1"/>
          <p:nvPr/>
        </p:nvSpPr>
        <p:spPr>
          <a:xfrm>
            <a:off x="5047488" y="3686632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138928" y="368663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DF1E4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175504" y="368663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algn="ctr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setX(…) por campo</a:t>
            </a:r>
            <a:endParaRPr lang="en-US" sz="66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40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setters de @Data</a:t>
            </a:r>
            <a:endParaRPr lang="en-US" sz="660" dirty="0"/>
          </a:p>
        </p:txBody>
      </p:sp>
      <p:sp>
        <p:nvSpPr>
          <p:cNvPr id="93" name="Text 91"/>
          <p:cNvSpPr txBox="1"/>
          <p:nvPr/>
        </p:nvSpPr>
        <p:spPr>
          <a:xfrm>
            <a:off x="6419088" y="3686632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510528" y="368663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DF1E4"/>
          </a:solidFill>
          <a:ln w="7620">
            <a:solidFill>
              <a:srgbClr val="C2620E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547104" y="368663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6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algn="ctr" indent="0" marL="0">
              <a:lnSpc>
                <a:spcPct val="95000"/>
              </a:lnSpc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devuelve el objeto lleno</a:t>
            </a:r>
            <a:endParaRPr lang="en-US" sz="660" dirty="0"/>
          </a:p>
        </p:txBody>
      </p:sp>
      <p:sp>
        <p:nvSpPr>
          <p:cNvPr id="96" name="Text 94"/>
          <p:cNvSpPr txBox="1"/>
          <p:nvPr/>
        </p:nvSpPr>
        <p:spPr>
          <a:xfrm>
            <a:off x="3767328" y="40432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Ojo, trampa: </a:t>
            </a:r>
            <a:pPr indent="0" marL="0">
              <a:lnSpc>
                <a:spcPct val="95000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declarar un constructor con parámetros (@AllArgsConstructor, que es para vos), Java te quita el vacío → @NoArgsConstructor lo repone.</a:t>
            </a:r>
            <a:endParaRPr lang="en-US" sz="670" dirty="0"/>
          </a:p>
        </p:txBody>
      </p:sp>
      <p:sp>
        <p:nvSpPr>
          <p:cNvPr id="97" name="Text 95"/>
          <p:cNvSpPr txBox="1"/>
          <p:nvPr/>
        </p:nvSpPr>
        <p:spPr>
          <a:xfrm>
            <a:off x="3767328" y="42901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El uso: el test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767328" y="4482160"/>
            <a:ext cx="4023360" cy="941146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813048" y="4527880"/>
            <a:ext cx="3950208" cy="8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@SpringBootTest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    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levanta TODO Spring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BuscadorDePaisesIT {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BuscadorDePaises buscadorDePaises;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inyectado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buscarPorNombrePeruDevuelvePeru() {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743"/>
              </a:lnSpc>
              <a:buNone/>
            </a:pPr>
            <a:r>
              <a:rPr lang="en-US" sz="63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opt = buscadorDePaises.buscarPorNombre(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"peru"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  </a:t>
            </a:r>
            <a:pPr indent="0" marL="0">
              <a:lnSpc>
                <a:spcPts val="743"/>
              </a:lnSpc>
              <a:buNone/>
            </a:pPr>
            <a:r>
              <a:rPr lang="en-US" sz="63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tipo inferido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assertThat(opt).isPresent();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assertThat(opt.get().getNombre().getComun()).isEqualTo(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"Peru"</a:t>
            </a:r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630" dirty="0"/>
          </a:p>
          <a:p>
            <a:pPr indent="0" marL="0">
              <a:lnSpc>
                <a:spcPts val="743"/>
              </a:lnSpc>
              <a:buNone/>
            </a:pPr>
            <a:r>
              <a:rPr lang="en-US" sz="63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0" dirty="0"/>
          </a:p>
        </p:txBody>
      </p:sp>
      <p:sp>
        <p:nvSpPr>
          <p:cNvPr id="100" name="Text 98"/>
          <p:cNvSpPr txBox="1"/>
          <p:nvPr/>
        </p:nvSpPr>
        <p:spPr>
          <a:xfrm>
            <a:off x="3767328" y="545988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</a:t>
            </a:r>
            <a:pPr indent="0" marL="0">
              <a:lnSpc>
                <a:spcPct val="95000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el motor (@Test) · </a:t>
            </a:r>
            <a:pPr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</a:t>
            </a:r>
            <a:pPr indent="0" marL="0">
              <a:lnSpc>
                <a:spcPct val="95000"/>
              </a:lnSpc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las aserciones (assertThat); conviven. Los getters salen de @Data.</a:t>
            </a:r>
            <a:endParaRPr lang="en-US" sz="670" dirty="0"/>
          </a:p>
        </p:txBody>
      </p:sp>
      <p:sp>
        <p:nvSpPr>
          <p:cNvPr id="101" name="Shape 99"/>
          <p:cNvSpPr/>
          <p:nvPr/>
        </p:nvSpPr>
        <p:spPr>
          <a:xfrm>
            <a:off x="3767328" y="5697626"/>
            <a:ext cx="4023360" cy="630022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5875">
            <a:solidFill>
              <a:srgbClr val="C2620E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840480" y="5743346"/>
            <a:ext cx="387705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bug del profe: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4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@JsonProperty("comon")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NombrePais (una sola M) →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4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getComun()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null, el resto bien,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excepción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8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ignoreUnknown = true: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agrega un campo → ✅ sigue andando · escribís mal un @JsonProperty →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silencioso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chaleco que te protege de la API te esconde tus typos.</a:t>
            </a:r>
            <a:endParaRPr lang="en-US" sz="68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Síntoma: un campo en null y el resto bien →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@JsonProperty mal escrito (o falta en CAMPOS).</a:t>
            </a:r>
            <a:endParaRPr lang="en-US" sz="680" dirty="0"/>
          </a:p>
        </p:txBody>
      </p:sp>
      <p:sp>
        <p:nvSpPr>
          <p:cNvPr id="103" name="Text 101"/>
          <p:cNvSpPr txBox="1"/>
          <p:nvPr/>
        </p:nvSpPr>
        <p:spPr>
          <a:xfrm>
            <a:off x="7909560" y="77724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+ ④ El componente: BuscadorDePaises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909560" y="969264"/>
            <a:ext cx="4050792" cy="2559634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927848" y="2569032"/>
            <a:ext cx="4014216" cy="91415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955280" y="1014984"/>
            <a:ext cx="3977640" cy="246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Spring la instancia: NUNCA `new`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BuscadorDePaises {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 CAMPOS =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= atributos del DTO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"name,capital,region,subregion,population,currencies,...,cca3"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RestTemplate restTemplate;         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cliente HTTP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RestCountriesProperties propiedades;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config del yml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BuscadorDePaises(RestTemplate restTemplate,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RestCountriesProperties propiedades) {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this.restTemplate = restTemplate;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INYECCIÓN DE DEPENDENCIAS: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this.propiedades = propiedades;  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declara, no construye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Optional&lt;Pais&gt; buscarPorNombre(String nombre) {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URI uri = UriComponentsBuilder.fromUriString(propiedades.getBaseUrl())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.path(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"/name/{nombre}"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     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PATH param (placeholder)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.queryParam(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"fields"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CAMPOS)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QUERY param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.buildAndExpand(nombre)       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rellena {nombre} y lo ESCAPA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.toUri();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Pais[] cuerpo = restTemplate.getForObject(uri, Pais[].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(cuerpo ==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|| cuerpo.length == 0) {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Optional.empty();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720"/>
              </a:lnSpc>
              <a:buNone/>
            </a:pPr>
            <a:r>
              <a:rPr lang="en-US" sz="61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Optional.of(cuerpo[0]);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buscarTodos(): .path("/all") ... .build()  → sin placeholders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  return cuerpo == null || ... ? List.of() : Arrays.asList(cuerpo);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buscarPorMoneda / Region / Capital → List&lt;Pais&gt;: igual, cambia el .path()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10" dirty="0"/>
          </a:p>
        </p:txBody>
      </p:sp>
      <p:sp>
        <p:nvSpPr>
          <p:cNvPr id="107" name="Shape 105"/>
          <p:cNvSpPr/>
          <p:nvPr/>
        </p:nvSpPr>
        <p:spPr>
          <a:xfrm>
            <a:off x="7909560" y="3547186"/>
            <a:ext cx="4050792" cy="402336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 w="6350">
            <a:solidFill>
              <a:srgbClr val="FDF1E4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946136" y="357461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C26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LA LÍNEA: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el GET → recibe el JSON → Jackson lo convierte con los DTOs → devuelve el array tipado.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</a:t>
            </a:r>
            <a:pPr indent="0" marL="0">
              <a:lnSpc>
                <a:spcPct val="95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(await fetch(url)).json()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Pais[] y no List: los genéricos se borran al compilar.</a:t>
            </a:r>
            <a:endParaRPr lang="en-US" sz="680" dirty="0"/>
          </a:p>
        </p:txBody>
      </p:sp>
      <p:sp>
        <p:nvSpPr>
          <p:cNvPr id="109" name="Shape 107"/>
          <p:cNvSpPr/>
          <p:nvPr/>
        </p:nvSpPr>
        <p:spPr>
          <a:xfrm flipV="1">
            <a:off x="11804904" y="2660459"/>
            <a:ext cx="0" cy="905015"/>
          </a:xfrm>
          <a:prstGeom prst="line">
            <a:avLst/>
          </a:prstGeom>
          <a:noFill/>
          <a:ln w="12700">
            <a:solidFill>
              <a:srgbClr val="C2620E"/>
            </a:solidFill>
            <a:prstDash val="solid"/>
            <a:tailEnd type="triangle"/>
          </a:ln>
        </p:spPr>
      </p:sp>
      <p:sp>
        <p:nvSpPr>
          <p:cNvPr id="110" name="Text 108"/>
          <p:cNvSpPr txBox="1"/>
          <p:nvPr/>
        </p:nvSpPr>
        <p:spPr>
          <a:xfrm>
            <a:off x="7909560" y="3995242"/>
            <a:ext cx="4050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build()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ruta fija ·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buildAndExpand()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{placeholders}. No concatenes con +: los espacios rompen la URL; buildAndExpand los escapa ("buenos aires" → buenos%20aires).</a:t>
            </a:r>
            <a:endParaRPr lang="en-US" sz="680" dirty="0"/>
          </a:p>
          <a:p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Optional&lt;Pais&gt;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 nombre = un país: viene o no) vs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List&lt;Pais&gt;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(una moneda la comparten muchos):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 comunica el contrato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 resultado → lista vacía, 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null</a:t>
            </a:r>
            <a:pPr indent="0" marL="0">
              <a:lnSpc>
                <a:spcPct val="95000"/>
              </a:lnSpc>
              <a:spcAft>
                <a:spcPts val="200"/>
              </a:spcAft>
              <a:buNone/>
            </a:pPr>
            <a:r>
              <a:rPr lang="en-US" sz="6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80" dirty="0"/>
          </a:p>
        </p:txBody>
      </p:sp>
      <p:sp>
        <p:nvSpPr>
          <p:cNvPr id="111" name="Text 109"/>
          <p:cNvSpPr txBox="1"/>
          <p:nvPr/>
        </p:nvSpPr>
        <p:spPr>
          <a:xfrm>
            <a:off x="7909560" y="458045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configuración (soporte de ④)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909560" y="4772482"/>
            <a:ext cx="4050792" cy="365684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955280" y="4818202"/>
            <a:ext cx="3977640" cy="274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20"/>
              </a:lnSpc>
              <a:buNone/>
            </a:pPr>
            <a:r>
              <a:rPr lang="en-US" sz="61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 application.yml — la URL NO se hardcodea (como el .env)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rest-countries:</a:t>
            </a:r>
            <a:endParaRPr lang="en-US" sz="610" dirty="0"/>
          </a:p>
          <a:p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base-url:</a:t>
            </a:r>
            <a:pPr indent="0" marL="0">
              <a:lnSpc>
                <a:spcPts val="720"/>
              </a:lnSpc>
              <a:buNone/>
            </a:pPr>
            <a:r>
              <a:rPr lang="en-US" sz="61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https://restcountries.com/v3.1</a:t>
            </a:r>
            <a:endParaRPr lang="en-US" sz="610" dirty="0"/>
          </a:p>
        </p:txBody>
      </p:sp>
      <p:sp>
        <p:nvSpPr>
          <p:cNvPr id="114" name="Shape 112"/>
          <p:cNvSpPr/>
          <p:nvPr/>
        </p:nvSpPr>
        <p:spPr>
          <a:xfrm>
            <a:off x="7909560" y="5165598"/>
            <a:ext cx="4050792" cy="720852"/>
          </a:xfrm>
          <a:prstGeom prst="rect">
            <a:avLst/>
          </a:prstGeom>
          <a:solidFill>
            <a:srgbClr val="F6F7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955280" y="5211318"/>
            <a:ext cx="397764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@ConfigurationProperties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(prefix = 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"rest-countries"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600" dirty="0"/>
          </a:p>
          <a:p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ts val="708"/>
              </a:lnSpc>
              <a:buNone/>
            </a:pPr>
            <a:r>
              <a:rPr lang="en-US" sz="60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setters: Spring la llena como Jackson llena un DTO</a:t>
            </a:r>
            <a:endParaRPr lang="en-US" sz="600" dirty="0"/>
          </a:p>
          <a:p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RestCountriesProperties {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 baseUrl; } </a:t>
            </a:r>
            <a:pPr indent="0" marL="0">
              <a:lnSpc>
                <a:spcPts val="708"/>
              </a:lnSpc>
              <a:buNone/>
            </a:pPr>
            <a:r>
              <a:rPr lang="en-US" sz="60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base-url → baseUrl</a:t>
            </a:r>
            <a:endParaRPr lang="en-US" sz="600" dirty="0"/>
          </a:p>
          <a:p>
            <a:pPr indent="0" marL="0">
              <a:lnSpc>
                <a:spcPts val="708"/>
              </a:lnSpc>
              <a:buNone/>
            </a:pPr>
            <a:r>
              <a:rPr lang="en-US" sz="60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+ @EnableConfigurationProperties(RestCountriesProperties.class) en la app</a:t>
            </a:r>
            <a:endParaRPr lang="en-US" sz="600" dirty="0"/>
          </a:p>
          <a:p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RestTemplateConfig {</a:t>
            </a:r>
            <a:endParaRPr lang="en-US" sz="600" dirty="0"/>
          </a:p>
          <a:p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08"/>
              </a:lnSpc>
              <a:buNone/>
            </a:pPr>
            <a:r>
              <a:rPr lang="en-US" sz="600" i="1" dirty="0">
                <a:solidFill>
                  <a:srgbClr val="C262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RestTemplate es de Spring: no se puede anotar → se expone con @Bean</a:t>
            </a:r>
            <a:endParaRPr lang="en-US" sz="600" dirty="0"/>
          </a:p>
          <a:p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A162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RestTemplate restTemplate() {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708"/>
              </a:lnSpc>
              <a:buNone/>
            </a:pPr>
            <a:r>
              <a:rPr lang="en-US" sz="6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708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RestTemplate(); } }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7909560" y="5932170"/>
            <a:ext cx="40507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3B2A7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946136" y="595960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9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debug del profe: </a:t>
            </a:r>
            <a:pPr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imprimí qué llegó realmente (System.out.println de la lista), ubicá la zona del problema y recién ahí leé el código.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228600" y="6400800"/>
            <a:ext cx="11731752" cy="329184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20040" y="6400800"/>
            <a:ext cx="11567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 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(alcanza la Community; VS Code no recomendado) · Postman · Maven · Git/GitHub (anotá tu cuenta en el Excel del equipo) · Discord · Drive del curso   │   </a:t>
            </a:r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 Solidaria · 6 entregas · tutor por equipo · E1: bocetos → casos de uso → clases → código, al final · el modelado se piensa entre todos</a:t>
            </a:r>
            <a:endParaRPr lang="en-US" sz="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8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Canales: </a:t>
            </a:r>
            <a:pPr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general = solo enunciado · tutor = diseño e implementación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 clase — DSI Clase 02</dc:title>
  <dc:subject>PptxGenJS Presentation</dc:subject>
  <dc:creator>Ever Lizarraga</dc:creator>
  <cp:lastModifiedBy>Ever Lizarraga</cp:lastModifiedBy>
  <cp:revision>1</cp:revision>
  <dcterms:created xsi:type="dcterms:W3CDTF">2026-10-20T22:56:29Z</dcterms:created>
  <dcterms:modified xsi:type="dcterms:W3CDTF">2026-10-20T22:56:29Z</dcterms:modified>
</cp:coreProperties>
</file>