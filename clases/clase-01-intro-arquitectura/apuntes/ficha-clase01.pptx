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18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CLASE 01 ·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general + Introducción a la Arquitectura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11887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clase · 1/2 · 25/03/2026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475488"/>
            <a:ext cx="3822192" cy="1783080"/>
          </a:xfrm>
          <a:prstGeom prst="roundRect">
            <a:avLst>
              <a:gd name="adj" fmla="val 3077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530352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" y="530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516636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58952"/>
            <a:ext cx="36393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pensar, modelar y diagramar una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conceptual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problema, antes de construirla.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general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sistema, como el de un edificio: le da forma y estructura.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alternativas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una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detalle.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software, modelos y estructuras de datos,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entre componentes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y, a veces, algoritmos.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diseñar: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problema y su contexto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(económico, social, cultural, tecnológico).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363931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BFD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Rumbaugh (1997):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=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alto nivel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organizar el sistema en subsistemas, asignarlos a hardware y software, y tomar las decisiones fundamentales que enmarcan el diseño detallado.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28600" y="2331720"/>
            <a:ext cx="3822192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2386584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23728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261518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necesidad o deseo del cliente y los involucrados.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condición necesaria: funcionalidades, características y restricciones.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786384" cy="219456"/>
          </a:xfrm>
          <a:prstGeom prst="roundRect">
            <a:avLst>
              <a:gd name="adj" fmla="val 16667"/>
            </a:avLst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" y="32461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16152" y="2971800"/>
            <a:ext cx="78638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16152" y="29718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216152" y="3547872"/>
            <a:ext cx="78638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16152" y="3547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 flipV="1">
            <a:off x="1106424" y="3081528"/>
            <a:ext cx="109728" cy="274320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106424" y="3355848"/>
            <a:ext cx="109728" cy="301752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093976" y="29169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 el sistema.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«registrar pedidos de compra».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pueden decir lo que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debe hacer.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2093976" y="337413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debe funcionar.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«responder en &lt; 2 s con 10.000 usuarios».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y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emergentes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funciones). Incluyen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y reglas de negocio.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28600" y="3959352"/>
            <a:ext cx="3822192" cy="1527048"/>
          </a:xfrm>
          <a:prstGeom prst="roundRect">
            <a:avLst>
              <a:gd name="adj" fmla="val 3593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4014216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2608" y="4014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" y="4000500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cualidades de un buen requisito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26664" y="4014216"/>
            <a:ext cx="932688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F5F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26664" y="401421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+ 3C + AV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242816"/>
            <a:ext cx="3639312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4904" y="4242816"/>
            <a:ext cx="868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ambiguo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252728" y="4242816"/>
            <a:ext cx="2651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interpretación posible.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4439412"/>
            <a:ext cx="3639312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4904" y="4439412"/>
            <a:ext cx="868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Conciso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252728" y="4439412"/>
            <a:ext cx="2651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y lo entiende alguien no técnico.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4636008"/>
            <a:ext cx="3639312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4904" y="4636008"/>
            <a:ext cx="868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Consistente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252728" y="4636008"/>
            <a:ext cx="2651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choca con otro requisito; mismo lenguaje en todos.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4832604"/>
            <a:ext cx="3639312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4904" y="4832604"/>
            <a:ext cx="868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Completo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252728" y="4832604"/>
            <a:ext cx="2651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toda la info; no te manda a otra fuente.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5029200"/>
            <a:ext cx="3639312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74904" y="5029200"/>
            <a:ext cx="868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Alcanzable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252728" y="5029200"/>
            <a:ext cx="2651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Realista con el tiempo, la plata y los recursos que hay.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0040" y="5225796"/>
            <a:ext cx="3639312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4904" y="5225796"/>
            <a:ext cx="868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Verificable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252728" y="5225796"/>
            <a:ext cx="2651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comprobar con certeza si se cumplió (inspección, análisis, demostración o test).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5559552"/>
            <a:ext cx="3822192" cy="749808"/>
          </a:xfrm>
          <a:prstGeom prst="roundRect">
            <a:avLst>
              <a:gd name="adj" fmla="val 7317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" y="5614416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2608" y="5614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30352" y="5600700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sirven los requerimientos?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320040" y="5843016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equipo, clientes y usuarios, y la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 diseño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la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validación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para la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errores temprano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187952" y="475488"/>
            <a:ext cx="3822192" cy="82296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1960" y="530352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51960" y="530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4489704" y="516636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279392" y="75895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grandes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 toman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escribir código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que después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mucho cambiar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del sistema: sus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externas visibles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 que muestran hacia afuera) y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relacionan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187952" y="1371600"/>
            <a:ext cx="3822192" cy="1572768"/>
          </a:xfrm>
          <a:prstGeom prst="roundRect">
            <a:avLst>
              <a:gd name="adj" fmla="val 3488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51960" y="142646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251960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489704" y="141274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e interfaz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4279392" y="1655064"/>
            <a:ext cx="3639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de software (código fuente, binario, ejecutable o biblioteca) con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definida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propio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 repo, su equipo, sus versiones, su agenda de despliegues.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que el componente expone hacia afuera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muestran parte de su comportamiento.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mensajes que entiende un objeto · métodos públicos de una biblioteca · una API REST.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279392" y="2560320"/>
            <a:ext cx="88925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B7DCC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306824" y="2578608"/>
            <a:ext cx="83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Sistema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5196078" y="2560320"/>
            <a:ext cx="88925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B7DCC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223510" y="2578608"/>
            <a:ext cx="83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Habitaciones/plantas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Componentes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6112764" y="2560320"/>
            <a:ext cx="88925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B7DCC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140196" y="2578608"/>
            <a:ext cx="83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Interfaces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7029450" y="2560320"/>
            <a:ext cx="88925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B7DCC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056882" y="2578608"/>
            <a:ext cx="83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del arquitecto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Diagrama de arq.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4187952" y="3017520"/>
            <a:ext cx="3822192" cy="1261872"/>
          </a:xfrm>
          <a:prstGeom prst="roundRect">
            <a:avLst>
              <a:gd name="adj" fmla="val 4348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51960" y="307238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25196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4489704" y="30586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la arquitectura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279392" y="3300984"/>
            <a:ext cx="1051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70832" y="3529584"/>
            <a:ext cx="868680" cy="612648"/>
          </a:xfrm>
          <a:prstGeom prst="rect">
            <a:avLst/>
          </a:prstGeom>
          <a:solidFill>
            <a:srgbClr val="D5EDE0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462272" y="3776472"/>
            <a:ext cx="685800" cy="292608"/>
          </a:xfrm>
          <a:prstGeom prst="rect">
            <a:avLst/>
          </a:prstGeom>
          <a:solidFill>
            <a:srgbClr val="A9D8BE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279392" y="33375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4370832" y="35661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720" dirty="0"/>
          </a:p>
        </p:txBody>
      </p:sp>
      <p:sp>
        <p:nvSpPr>
          <p:cNvPr id="82" name="Text 80"/>
          <p:cNvSpPr txBox="1"/>
          <p:nvPr/>
        </p:nvSpPr>
        <p:spPr>
          <a:xfrm>
            <a:off x="4462272" y="37764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720" dirty="0"/>
          </a:p>
        </p:txBody>
      </p:sp>
      <p:sp>
        <p:nvSpPr>
          <p:cNvPr id="83" name="Text 81"/>
          <p:cNvSpPr txBox="1"/>
          <p:nvPr/>
        </p:nvSpPr>
        <p:spPr>
          <a:xfrm>
            <a:off x="5440680" y="3282696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sistemas de la organización y cómo se relacionan; la estrategia tecnológica y de negocio.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«Ventas habla con Stock y con Facturación».</a:t>
            </a:r>
            <a:endParaRPr lang="en-US" sz="72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y sus subsistemas: arquitectura de software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infraestructura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«Frontend, Backend y BD».</a:t>
            </a:r>
            <a:endParaRPr lang="en-US" sz="72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puntual por dentro.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«el módulo de autenticación usa JWT y tiene estas clases».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187952" y="4352544"/>
            <a:ext cx="3822192" cy="950976"/>
          </a:xfrm>
          <a:prstGeom prst="roundRect">
            <a:avLst>
              <a:gd name="adj" fmla="val 5769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51960" y="4407408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251960" y="4407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4489704" y="4393692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sistema: 5 características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4279392" y="4636008"/>
            <a:ext cx="3639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más alto nivel: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lógico: también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y organizacional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las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los atributos de calidad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sistema en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+ interacción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ellos.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Gobierna al sistema durante años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187952" y="5376672"/>
            <a:ext cx="3822192" cy="932688"/>
          </a:xfrm>
          <a:prstGeom prst="roundRect">
            <a:avLst>
              <a:gd name="adj" fmla="val 5882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51960" y="5431536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251960" y="5431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4489704" y="5417820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arquitectónicas: 5 características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4279392" y="566013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partes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dan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difíciles de cambiar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 y mitigan riesgos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hay que tomarlas 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temprano</a:t>
            </a:r>
            <a:pPr indent="0" marL="0">
              <a:lnSpc>
                <a:spcPct val="95000"/>
              </a:lnSpc>
              <a:spcAft>
                <a:spcPts val="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391656" y="5705856"/>
            <a:ext cx="1517904" cy="493776"/>
          </a:xfrm>
          <a:prstGeom prst="roundRect">
            <a:avLst>
              <a:gd name="adj" fmla="val 7407"/>
            </a:avLst>
          </a:prstGeom>
          <a:solidFill>
            <a:srgbClr val="FDECEA"/>
          </a:solidFill>
          <a:ln w="6350">
            <a:solidFill>
              <a:srgbClr val="FDECE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428232" y="573328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plano está mal, tirar una pared después sale carísimo.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software pasa lo mismo.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8147304" y="475488"/>
            <a:ext cx="3813048" cy="1307592"/>
          </a:xfrm>
          <a:prstGeom prst="roundRect">
            <a:avLst>
              <a:gd name="adj" fmla="val 4196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11312" y="530352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8211312" y="530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8449056" y="516636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la arquitectura: qué se tiene en cuenta para decidir</a:t>
            </a:r>
            <a:endParaRPr lang="en-US" sz="950" dirty="0"/>
          </a:p>
        </p:txBody>
      </p:sp>
      <p:sp>
        <p:nvSpPr>
          <p:cNvPr id="100" name="Text 98"/>
          <p:cNvSpPr txBox="1"/>
          <p:nvPr/>
        </p:nvSpPr>
        <p:spPr>
          <a:xfrm>
            <a:off x="8238744" y="758952"/>
            <a:ext cx="17693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funcionales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 ②)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no funcionales / atributos de calidad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 ②)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técnicas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«correr en Azure» · «ya tiene licencias de Oracle»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negocio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«listo en 6 meses» · «presupuesto de $50.000»</a:t>
            </a:r>
            <a:endParaRPr lang="en-US" sz="740" dirty="0"/>
          </a:p>
        </p:txBody>
      </p:sp>
      <p:sp>
        <p:nvSpPr>
          <p:cNvPr id="101" name="Text 99"/>
          <p:cNvSpPr txBox="1"/>
          <p:nvPr/>
        </p:nvSpPr>
        <p:spPr>
          <a:xfrm>
            <a:off x="10099548" y="758952"/>
            <a:ext cx="17693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futuros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 2 años, abrir una API a clientes externos»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del arquitecto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«ya lo resolvimos con microservicios y escala»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y patrones arquitectónicos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microservicios, MVC, event-driven, monolito</a:t>
            </a:r>
            <a:endParaRPr lang="en-US" sz="740" dirty="0"/>
          </a:p>
        </p:txBody>
      </p:sp>
      <p:sp>
        <p:nvSpPr>
          <p:cNvPr id="102" name="Shape 100"/>
          <p:cNvSpPr/>
          <p:nvPr/>
        </p:nvSpPr>
        <p:spPr>
          <a:xfrm>
            <a:off x="8147304" y="1856232"/>
            <a:ext cx="3813048" cy="1463040"/>
          </a:xfrm>
          <a:prstGeom prst="roundRect">
            <a:avLst>
              <a:gd name="adj" fmla="val 3750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11312" y="1911096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211312" y="1911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8449056" y="1897380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abstracción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 flipV="1">
            <a:off x="8284464" y="2139696"/>
            <a:ext cx="0" cy="111556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8403336" y="2139696"/>
            <a:ext cx="34472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513064" y="2468880"/>
            <a:ext cx="3227832" cy="731520"/>
          </a:xfrm>
          <a:prstGeom prst="rect">
            <a:avLst/>
          </a:prstGeom>
          <a:solidFill>
            <a:srgbClr val="D5EDE0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22792" y="2944368"/>
            <a:ext cx="3008376" cy="201168"/>
          </a:xfrm>
          <a:prstGeom prst="rect">
            <a:avLst/>
          </a:prstGeom>
          <a:solidFill>
            <a:srgbClr val="A9D8BE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458200" y="21671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arquitectónico: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estructural general; independiente de otros estilos; expresa componentes y sus relaciones.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8567928" y="249631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arquitectónico: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básica de la aplicación,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construcción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subsistemas predefinidos con reglas; puede contener o estar contenido en otros patrones.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8677656" y="2944368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diseño: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para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un componente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00" dirty="0"/>
          </a:p>
        </p:txBody>
      </p:sp>
      <p:sp>
        <p:nvSpPr>
          <p:cNvPr id="113" name="Text 111"/>
          <p:cNvSpPr txBox="1"/>
          <p:nvPr/>
        </p:nvSpPr>
        <p:spPr>
          <a:xfrm>
            <a:off x="9976104" y="1929384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= más abstracto (de adentro hacia afuera)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8147304" y="3392424"/>
            <a:ext cx="3813048" cy="1389888"/>
          </a:xfrm>
          <a:prstGeom prst="roundRect">
            <a:avLst>
              <a:gd name="adj" fmla="val 3947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11312" y="3447288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211312" y="3447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8449056" y="3433572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típicos de un sistema de información</a:t>
            </a:r>
            <a:endParaRPr lang="en-US" sz="950" dirty="0"/>
          </a:p>
        </p:txBody>
      </p:sp>
      <p:sp>
        <p:nvSpPr>
          <p:cNvPr id="118" name="Text 116"/>
          <p:cNvSpPr txBox="1"/>
          <p:nvPr/>
        </p:nvSpPr>
        <p:spPr>
          <a:xfrm>
            <a:off x="8238744" y="3675888"/>
            <a:ext cx="3630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usuario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y toca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presentación y experiencia de usuario. Navegador o app mobile.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Angular, Vue / Swift, Kotlin.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servidor: procesa datos, tiene gran parte de la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habla con la BD y los servicios externos. El usuario no lo ve.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una API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consume el frontend.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Python, PHP.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permanente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sin ella, todo se pierde al apagar el servidor.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MySQL, MongoDB, Oracle.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Lógicamente, la BD está en la capa de persistencia, dentro del Backend; físicamente suele ir en su propio servidor. Cómo se dibuja → diapo 2.</a:t>
            </a:r>
            <a:endParaRPr lang="en-US" sz="740" dirty="0"/>
          </a:p>
        </p:txBody>
      </p:sp>
      <p:sp>
        <p:nvSpPr>
          <p:cNvPr id="119" name="Shape 117"/>
          <p:cNvSpPr/>
          <p:nvPr/>
        </p:nvSpPr>
        <p:spPr>
          <a:xfrm>
            <a:off x="8147304" y="4855464"/>
            <a:ext cx="3813048" cy="1444752"/>
          </a:xfrm>
          <a:prstGeom prst="roundRect">
            <a:avLst>
              <a:gd name="adj" fmla="val 3797"/>
            </a:avLst>
          </a:prstGeom>
          <a:solidFill>
            <a:srgbClr val="F4F1FB"/>
          </a:solidFill>
          <a:ln w="19050">
            <a:solidFill>
              <a:srgbClr val="3B2A7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211312" y="4910328"/>
            <a:ext cx="182880" cy="182880"/>
          </a:xfrm>
          <a:prstGeom prst="ellipse">
            <a:avLst/>
          </a:prstGeom>
          <a:solidFill>
            <a:srgbClr val="3B2A7A"/>
          </a:solidFill>
          <a:ln w="12700">
            <a:solidFill>
              <a:srgbClr val="3B2A7A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211312" y="4910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122" name="Text 120"/>
          <p:cNvSpPr txBox="1"/>
          <p:nvPr/>
        </p:nvSpPr>
        <p:spPr>
          <a:xfrm>
            <a:off x="8449056" y="4896612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Conway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Melvin Conway, 1968</a:t>
            </a:r>
            <a:endParaRPr lang="en-US" sz="1000" dirty="0"/>
          </a:p>
        </p:txBody>
      </p:sp>
      <p:sp>
        <p:nvSpPr>
          <p:cNvPr id="123" name="Text 121"/>
          <p:cNvSpPr txBox="1"/>
          <p:nvPr/>
        </p:nvSpPr>
        <p:spPr>
          <a:xfrm>
            <a:off x="8238744" y="5138928"/>
            <a:ext cx="3630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organizaciones diseñan sistemas que replican su estructura de comunicación.»</a:t>
            </a:r>
            <a:endParaRPr lang="en-US" sz="75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 de excepción de correlativas. Áreas fragmentadas (Alumnos, Gestión Académica, Sistemas), formularios separados, datos reingresados →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termina integrando el proceso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problema es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organizacional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solo tecnológico.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8238744" y="5815584"/>
            <a:ext cx="363016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B42318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8275320" y="5843016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parcial: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áreas trabajan fragmentadas, el sistema sale fragmentado. Por eso, antes de diseñar el sistema conviene diseñar el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integrado de punta a punta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la persona usuaria en el centro.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228600" y="6382512"/>
            <a:ext cx="11731752" cy="329184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320040" y="6382512"/>
            <a:ext cx="1156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cursada 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ejes: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 en Objetos · Modelado de Datos y Persistencia · Arquitectura de Sistemas y de Software   │  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Regularizar: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parciales ≥ 6 + TPA + prácticas de clase   │  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parcial ≥ 8 (uno &lt; 8 se puede recuperar para promo) + TPA ≥ 8 individual, antes del 1er final de dic. + prácticas   │  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TPA: 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 (≤ 6), 6 entregas (la slide dice 7; corregido en la clase 2) + defensa final del equipo.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CLASE 01 ·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componentes y de despliegue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961120" y="1463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clase · 2/2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Turnos: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piezas, dos preguntas distintas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315468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" y="777240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 – Sistema de Turnos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978408"/>
            <a:ext cx="114300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4071" y="1014984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1031443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1068019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" y="9784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74420" y="1252728"/>
            <a:ext cx="0" cy="32004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106424" y="1344168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33272" y="1577340"/>
            <a:ext cx="82296" cy="82296"/>
          </a:xfrm>
          <a:prstGeom prst="ellipse">
            <a:avLst/>
          </a:prstGeom>
          <a:solidFill>
            <a:srgbClr val="E5E7EB"/>
          </a:solidFill>
          <a:ln w="762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170078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115568" y="1618488"/>
            <a:ext cx="438912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1481328"/>
            <a:ext cx="109728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89911" y="1517904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9736" y="1534363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9736" y="1570939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91056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103120"/>
            <a:ext cx="118872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38351" y="213969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8176" y="215615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08176" y="219273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Turnos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65960" y="2103120"/>
            <a:ext cx="128016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4271" y="213969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54096" y="215615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54096" y="219273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02536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Usuarios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 flipH="1">
            <a:off x="1188720" y="1755648"/>
            <a:ext cx="685800" cy="34747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331720" y="1755648"/>
            <a:ext cx="274320" cy="34747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611880" y="7498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¿QUÉ piezas hay y cómo se conectan?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y back se hablan solo a través de la interfaz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contrato, acá la REST API): nadie habla «directo».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internos del backend aparecen como subcomponentes.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muestra servidores ni red: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del despliegue.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abstracto que un diagrama de clases.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611880" y="1828800"/>
            <a:ext cx="2286000" cy="667512"/>
          </a:xfrm>
          <a:prstGeom prst="roundRect">
            <a:avLst>
              <a:gd name="adj" fmla="val 5479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66744" y="18562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776472" y="2029968"/>
            <a:ext cx="310896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1608" y="2066544"/>
            <a:ext cx="109728" cy="45720"/>
          </a:xfrm>
          <a:prstGeom prst="rect">
            <a:avLst/>
          </a:prstGeom>
          <a:solidFill>
            <a:srgbClr val="FFFFFF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1608" y="2157984"/>
            <a:ext cx="109728" cy="45720"/>
          </a:xfrm>
          <a:prstGeom prst="rect">
            <a:avLst/>
          </a:prstGeom>
          <a:solidFill>
            <a:srgbClr val="FFFFFF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83563" y="2084832"/>
            <a:ext cx="114117" cy="100584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51376" y="2102937"/>
            <a:ext cx="61448" cy="22128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51376" y="2143171"/>
            <a:ext cx="61448" cy="22128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11880" y="228600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ícono)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4398264" y="2139696"/>
            <a:ext cx="27432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54296" y="2075688"/>
            <a:ext cx="128016" cy="128016"/>
          </a:xfrm>
          <a:prstGeom prst="arc">
            <a:avLst>
              <a:gd name="adj1" fmla="val 6000000"/>
              <a:gd name="adj2" fmla="val 15600000"/>
            </a:avLst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2103120"/>
            <a:ext cx="73152" cy="73152"/>
          </a:xfrm>
          <a:prstGeom prst="ellipse">
            <a:avLst/>
          </a:prstGeom>
          <a:solidFill>
            <a:srgbClr val="E5E7EB"/>
          </a:solidFill>
          <a:ln w="7620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2139696"/>
            <a:ext cx="27432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52544" y="200253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580" dirty="0"/>
          </a:p>
        </p:txBody>
      </p:sp>
      <p:sp>
        <p:nvSpPr>
          <p:cNvPr id="49" name="Text 47"/>
          <p:cNvSpPr txBox="1"/>
          <p:nvPr/>
        </p:nvSpPr>
        <p:spPr>
          <a:xfrm>
            <a:off x="4782312" y="20025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</a:t>
            </a:r>
            <a:endParaRPr lang="en-US" sz="580" dirty="0"/>
          </a:p>
        </p:txBody>
      </p:sp>
      <p:sp>
        <p:nvSpPr>
          <p:cNvPr id="50" name="Text 48"/>
          <p:cNvSpPr txBox="1"/>
          <p:nvPr/>
        </p:nvSpPr>
        <p:spPr>
          <a:xfrm>
            <a:off x="4325112" y="228600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(bola y zócalo)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5394960" y="2011680"/>
            <a:ext cx="365760" cy="54864"/>
          </a:xfrm>
          <a:custGeom>
            <a:avLst/>
            <a:gdLst/>
            <a:ahLst/>
            <a:cxnLst/>
            <a:rect l="l" t="t" r="r" b="b"/>
            <a:pathLst>
              <a:path w="365760" h="54864">
                <a:moveTo>
                  <a:pt x="0" y="54864"/>
                </a:moveTo>
                <a:lnTo>
                  <a:pt x="54864" y="0"/>
                </a:lnTo>
                <a:lnTo>
                  <a:pt x="365760" y="0"/>
                </a:lnTo>
                <a:lnTo>
                  <a:pt x="310896" y="54864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05856" y="2011680"/>
            <a:ext cx="54864" cy="256032"/>
          </a:xfrm>
          <a:custGeom>
            <a:avLst/>
            <a:gdLst/>
            <a:ahLst/>
            <a:cxnLst/>
            <a:rect l="l" t="t" r="r" b="b"/>
            <a:pathLst>
              <a:path w="54864" h="256032">
                <a:moveTo>
                  <a:pt x="0" y="54864"/>
                </a:moveTo>
                <a:lnTo>
                  <a:pt x="54864" y="0"/>
                </a:lnTo>
                <a:lnTo>
                  <a:pt x="54864" y="201168"/>
                </a:lnTo>
                <a:lnTo>
                  <a:pt x="0" y="25603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2066544"/>
            <a:ext cx="310896" cy="201168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257800" y="22860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(dónde)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274320" y="2606040"/>
            <a:ext cx="5623560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7472" y="260604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Se usan juntos y en orden: 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QUÉ construir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(componentes)  → 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 DÓNDE desplegarlo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(despliegue): las mismas cajas, ahora dentro de nodos.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74320" y="2926080"/>
            <a:ext cx="4023360" cy="3611880"/>
          </a:xfrm>
          <a:prstGeom prst="rect">
            <a:avLst/>
          </a:prstGeom>
          <a:solidFill>
            <a:srgbClr val="FFFFFF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7472" y="29718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 – Sistema de Turnos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51560" y="3703320"/>
            <a:ext cx="1554480" cy="73152"/>
          </a:xfrm>
          <a:custGeom>
            <a:avLst/>
            <a:gdLst/>
            <a:ahLst/>
            <a:cxnLst/>
            <a:rect l="l" t="t" r="r" b="b"/>
            <a:pathLst>
              <a:path w="1554480" h="73152">
                <a:moveTo>
                  <a:pt x="0" y="73152"/>
                </a:moveTo>
                <a:lnTo>
                  <a:pt x="73152" y="0"/>
                </a:lnTo>
                <a:lnTo>
                  <a:pt x="1554480" y="0"/>
                </a:lnTo>
                <a:lnTo>
                  <a:pt x="1481328" y="7315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32888" y="3703320"/>
            <a:ext cx="73152" cy="640080"/>
          </a:xfrm>
          <a:custGeom>
            <a:avLst/>
            <a:gdLst/>
            <a:ahLst/>
            <a:cxnLst/>
            <a:rect l="l" t="t" r="r" b="b"/>
            <a:pathLst>
              <a:path w="73152" h="640080">
                <a:moveTo>
                  <a:pt x="0" y="73152"/>
                </a:moveTo>
                <a:lnTo>
                  <a:pt x="73152" y="0"/>
                </a:lnTo>
                <a:lnTo>
                  <a:pt x="73152" y="566928"/>
                </a:lnTo>
                <a:lnTo>
                  <a:pt x="0" y="640080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1560" y="3776472"/>
            <a:ext cx="1481328" cy="566928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1560" y="3794760"/>
            <a:ext cx="1481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Celular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65760" y="4599432"/>
            <a:ext cx="2788920" cy="73152"/>
          </a:xfrm>
          <a:custGeom>
            <a:avLst/>
            <a:gdLst/>
            <a:ahLst/>
            <a:cxnLst/>
            <a:rect l="l" t="t" r="r" b="b"/>
            <a:pathLst>
              <a:path w="2788920" h="73152">
                <a:moveTo>
                  <a:pt x="0" y="73152"/>
                </a:moveTo>
                <a:lnTo>
                  <a:pt x="73152" y="0"/>
                </a:lnTo>
                <a:lnTo>
                  <a:pt x="2788920" y="0"/>
                </a:lnTo>
                <a:lnTo>
                  <a:pt x="2715768" y="7315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1528" y="4599432"/>
            <a:ext cx="73152" cy="1810512"/>
          </a:xfrm>
          <a:custGeom>
            <a:avLst/>
            <a:gdLst/>
            <a:ahLst/>
            <a:cxnLst/>
            <a:rect l="l" t="t" r="r" b="b"/>
            <a:pathLst>
              <a:path w="73152" h="1810512">
                <a:moveTo>
                  <a:pt x="0" y="73152"/>
                </a:moveTo>
                <a:lnTo>
                  <a:pt x="73152" y="0"/>
                </a:lnTo>
                <a:lnTo>
                  <a:pt x="73152" y="1737360"/>
                </a:lnTo>
                <a:lnTo>
                  <a:pt x="0" y="181051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4672584"/>
            <a:ext cx="2715768" cy="1737360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65760" y="4690872"/>
            <a:ext cx="2715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Aplicación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246120" y="5166360"/>
            <a:ext cx="960120" cy="73152"/>
          </a:xfrm>
          <a:custGeom>
            <a:avLst/>
            <a:gdLst/>
            <a:ahLst/>
            <a:cxnLst/>
            <a:rect l="l" t="t" r="r" b="b"/>
            <a:pathLst>
              <a:path w="960120" h="73152">
                <a:moveTo>
                  <a:pt x="0" y="73152"/>
                </a:moveTo>
                <a:lnTo>
                  <a:pt x="73152" y="0"/>
                </a:lnTo>
                <a:lnTo>
                  <a:pt x="960120" y="0"/>
                </a:lnTo>
                <a:lnTo>
                  <a:pt x="886968" y="7315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33088" y="5166360"/>
            <a:ext cx="73152" cy="960120"/>
          </a:xfrm>
          <a:custGeom>
            <a:avLst/>
            <a:gdLst/>
            <a:ahLst/>
            <a:cxnLst/>
            <a:rect l="l" t="t" r="r" b="b"/>
            <a:pathLst>
              <a:path w="73152" h="960120">
                <a:moveTo>
                  <a:pt x="0" y="73152"/>
                </a:moveTo>
                <a:lnTo>
                  <a:pt x="73152" y="0"/>
                </a:lnTo>
                <a:lnTo>
                  <a:pt x="73152" y="886968"/>
                </a:lnTo>
                <a:lnTo>
                  <a:pt x="0" y="960120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46120" y="5239512"/>
            <a:ext cx="886968" cy="886968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246120" y="5257800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741932" y="3127248"/>
            <a:ext cx="82296" cy="82296"/>
          </a:xfrm>
          <a:prstGeom prst="ellipse">
            <a:avLst/>
          </a:prstGeom>
          <a:solidFill>
            <a:srgbClr val="EEEEEE"/>
          </a:solidFill>
          <a:ln w="7620">
            <a:solidFill>
              <a:srgbClr val="5555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83080" y="3209544"/>
            <a:ext cx="0" cy="100584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19072" y="3246120"/>
            <a:ext cx="128016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1728216" y="3310128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83080" y="3310128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371600" y="339242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88720" y="3977640"/>
            <a:ext cx="114300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69871" y="401421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39696" y="403067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39696" y="406725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225296" y="3977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188720" y="4901184"/>
            <a:ext cx="114300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169871" y="4937760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39696" y="4954219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39696" y="499079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225296" y="49011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5806440"/>
            <a:ext cx="118872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84071" y="584301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453896" y="585947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53896" y="589605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93776" y="5806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Turnos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783080" y="5806440"/>
            <a:ext cx="118872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809951" y="584301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79776" y="585947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79776" y="589605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819656" y="5806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Usuarios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355848" y="5532120"/>
            <a:ext cx="713232" cy="457200"/>
          </a:xfrm>
          <a:prstGeom prst="can">
            <a:avLst/>
          </a:prstGeom>
          <a:solidFill>
            <a:srgbClr val="FFF4C9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355848" y="5614416"/>
            <a:ext cx="7132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Turnos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783080" y="3538728"/>
            <a:ext cx="0" cy="43891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00" name="Text 98"/>
          <p:cNvSpPr txBox="1"/>
          <p:nvPr/>
        </p:nvSpPr>
        <p:spPr>
          <a:xfrm>
            <a:off x="1828800" y="356616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1760220" y="4251960"/>
            <a:ext cx="0" cy="649224"/>
          </a:xfrm>
          <a:prstGeom prst="line">
            <a:avLst/>
          </a:prstGeom>
          <a:noFill/>
          <a:ln w="15875">
            <a:solidFill>
              <a:srgbClr val="C2620E"/>
            </a:solidFill>
            <a:prstDash val="solid"/>
            <a:tailEnd type="triangle"/>
          </a:ln>
        </p:spPr>
      </p:sp>
      <p:sp>
        <p:nvSpPr>
          <p:cNvPr id="102" name="Text 100"/>
          <p:cNvSpPr txBox="1"/>
          <p:nvPr/>
        </p:nvSpPr>
        <p:spPr>
          <a:xfrm>
            <a:off x="1819656" y="4416552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 flipH="1">
            <a:off x="1051560" y="5175504"/>
            <a:ext cx="411480" cy="630936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2057400" y="5175504"/>
            <a:ext cx="320040" cy="630936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2331720" y="5074920"/>
            <a:ext cx="1069848" cy="484632"/>
          </a:xfrm>
          <a:prstGeom prst="line">
            <a:avLst/>
          </a:prstGeom>
          <a:noFill/>
          <a:ln w="15875">
            <a:solidFill>
              <a:srgbClr val="C2620E"/>
            </a:solidFill>
            <a:prstDash val="solid"/>
            <a:tailEnd type="triangle"/>
          </a:ln>
        </p:spPr>
      </p:sp>
      <p:sp>
        <p:nvSpPr>
          <p:cNvPr id="106" name="Text 104"/>
          <p:cNvSpPr txBox="1"/>
          <p:nvPr/>
        </p:nvSpPr>
        <p:spPr>
          <a:xfrm>
            <a:off x="2743200" y="512064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07" name="Text 105"/>
          <p:cNvSpPr txBox="1"/>
          <p:nvPr/>
        </p:nvSpPr>
        <p:spPr>
          <a:xfrm>
            <a:off x="4434840" y="2971800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¿DÓNDE corre cada pieza y por qué red se comunican?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(caja 3D) =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o servidor donde vive el componente.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naranjas =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fluye la comunicación entre nodos (HTTP/REST, SQL).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discutir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hosting, seguridad y escalabilidad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cliente.</a:t>
            </a:r>
            <a:endParaRPr lang="en-US" sz="73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7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lo revisa el equipo de infraestructura / DevOps.</a:t>
            </a:r>
            <a:endParaRPr lang="en-US" sz="730" dirty="0"/>
          </a:p>
        </p:txBody>
      </p:sp>
      <p:sp>
        <p:nvSpPr>
          <p:cNvPr id="108" name="Shape 106"/>
          <p:cNvSpPr/>
          <p:nvPr/>
        </p:nvSpPr>
        <p:spPr>
          <a:xfrm>
            <a:off x="4425696" y="5413248"/>
            <a:ext cx="1490472" cy="438912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462272" y="5440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se cae el servidor de BD?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ver riesgos de infraestructura.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 flipH="1">
            <a:off x="4087368" y="5669280"/>
            <a:ext cx="338328" cy="0"/>
          </a:xfrm>
          <a:prstGeom prst="line">
            <a:avLst/>
          </a:prstGeom>
          <a:noFill/>
          <a:ln w="952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111" name="Text 109"/>
          <p:cNvSpPr txBox="1"/>
          <p:nvPr/>
        </p:nvSpPr>
        <p:spPr>
          <a:xfrm>
            <a:off x="6263640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integrador: la clínica.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da turnos por teléfono y en papel; quiere digitalizarlo.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6263640" y="749808"/>
            <a:ext cx="1828800" cy="1536192"/>
          </a:xfrm>
          <a:prstGeom prst="roundRect">
            <a:avLst>
              <a:gd name="adj" fmla="val 357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327648" y="804672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327648" y="804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7909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las entradas?</a:t>
            </a:r>
            <a:endParaRPr lang="en-US" sz="850" dirty="0"/>
          </a:p>
        </p:txBody>
      </p:sp>
      <p:sp>
        <p:nvSpPr>
          <p:cNvPr id="116" name="Text 114"/>
          <p:cNvSpPr txBox="1"/>
          <p:nvPr/>
        </p:nvSpPr>
        <p:spPr>
          <a:xfrm>
            <a:off x="6355080" y="1033272"/>
            <a:ext cx="1645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saca turno online · el médico ve su agenda · la administración genera reportes.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en el celular · 500 turnos/día · disponible 24/7.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Restr. técnica: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 servidor propio (no quiere hostear en la nube).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Restr. de negocio: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acotado, listo en 3 meses.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8183880" y="749808"/>
            <a:ext cx="1828800" cy="1536192"/>
          </a:xfrm>
          <a:prstGeom prst="roundRect">
            <a:avLst>
              <a:gd name="adj" fmla="val 357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47888" y="804672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247888" y="804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8485632" y="7909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componentes típicos?</a:t>
            </a:r>
            <a:endParaRPr lang="en-US" sz="850" dirty="0"/>
          </a:p>
        </p:txBody>
      </p:sp>
      <p:sp>
        <p:nvSpPr>
          <p:cNvPr id="121" name="Text 119"/>
          <p:cNvSpPr txBox="1"/>
          <p:nvPr/>
        </p:nvSpPr>
        <p:spPr>
          <a:xfrm>
            <a:off x="8275320" y="1033272"/>
            <a:ext cx="1645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sacan turno desde el navegador.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mobile (futuro):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médicos.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turnos, notificaciones y disponibilidad.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</a:t>
            </a:r>
            <a:pPr indent="0" marL="0">
              <a:lnSpc>
                <a:spcPct val="95000"/>
              </a:lnSpc>
              <a:spcAft>
                <a:spcPts val="15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médicos, turnos, historiales.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0104120" y="749808"/>
            <a:ext cx="1847088" cy="1536192"/>
          </a:xfrm>
          <a:prstGeom prst="roundRect">
            <a:avLst>
              <a:gd name="adj" fmla="val 357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168128" y="804672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168128" y="804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5" name="Text 123"/>
          <p:cNvSpPr txBox="1"/>
          <p:nvPr/>
        </p:nvSpPr>
        <p:spPr>
          <a:xfrm>
            <a:off x="10405872" y="790956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decisiones tomar?</a:t>
            </a:r>
            <a:endParaRPr lang="en-US" sz="850" dirty="0"/>
          </a:p>
        </p:txBody>
      </p:sp>
      <p:sp>
        <p:nvSpPr>
          <p:cNvPr id="126" name="Text 124"/>
          <p:cNvSpPr txBox="1"/>
          <p:nvPr/>
        </p:nvSpPr>
        <p:spPr>
          <a:xfrm>
            <a:off x="10195560" y="1033272"/>
            <a:ext cx="1664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¿Monolito o microservicios? →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por presupuesto y tiempo.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notifica al paciente?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WhatsApp.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acceden los médicos?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¿web o app?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6263640" y="2395728"/>
            <a:ext cx="4114800" cy="4142232"/>
          </a:xfrm>
          <a:prstGeom prst="rect">
            <a:avLst/>
          </a:prstGeom>
          <a:solidFill>
            <a:srgbClr val="FFFFFF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6336792" y="244144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Propuesta: Sistema de Turnos Médicos – Diagrama de Despliegue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7498080" y="3218688"/>
            <a:ext cx="1536192" cy="73152"/>
          </a:xfrm>
          <a:custGeom>
            <a:avLst/>
            <a:gdLst/>
            <a:ahLst/>
            <a:cxnLst/>
            <a:rect l="l" t="t" r="r" b="b"/>
            <a:pathLst>
              <a:path w="1536192" h="73152">
                <a:moveTo>
                  <a:pt x="0" y="73152"/>
                </a:moveTo>
                <a:lnTo>
                  <a:pt x="73152" y="0"/>
                </a:lnTo>
                <a:lnTo>
                  <a:pt x="1536192" y="0"/>
                </a:lnTo>
                <a:lnTo>
                  <a:pt x="1463040" y="7315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961120" y="3218688"/>
            <a:ext cx="73152" cy="566928"/>
          </a:xfrm>
          <a:custGeom>
            <a:avLst/>
            <a:gdLst/>
            <a:ahLst/>
            <a:cxnLst/>
            <a:rect l="l" t="t" r="r" b="b"/>
            <a:pathLst>
              <a:path w="73152" h="566928">
                <a:moveTo>
                  <a:pt x="0" y="73152"/>
                </a:moveTo>
                <a:lnTo>
                  <a:pt x="73152" y="0"/>
                </a:lnTo>
                <a:lnTo>
                  <a:pt x="73152" y="493776"/>
                </a:lnTo>
                <a:lnTo>
                  <a:pt x="0" y="566928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98080" y="3291840"/>
            <a:ext cx="1463040" cy="493776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7498080" y="331012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del Usuario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6373368" y="3950208"/>
            <a:ext cx="2926080" cy="73152"/>
          </a:xfrm>
          <a:custGeom>
            <a:avLst/>
            <a:gdLst/>
            <a:ahLst/>
            <a:cxnLst/>
            <a:rect l="l" t="t" r="r" b="b"/>
            <a:pathLst>
              <a:path w="2926080" h="73152">
                <a:moveTo>
                  <a:pt x="0" y="73152"/>
                </a:moveTo>
                <a:lnTo>
                  <a:pt x="73152" y="0"/>
                </a:lnTo>
                <a:lnTo>
                  <a:pt x="2926080" y="0"/>
                </a:lnTo>
                <a:lnTo>
                  <a:pt x="2852928" y="7315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226296" y="3950208"/>
            <a:ext cx="73152" cy="1764792"/>
          </a:xfrm>
          <a:custGeom>
            <a:avLst/>
            <a:gdLst/>
            <a:ahLst/>
            <a:cxnLst/>
            <a:rect l="l" t="t" r="r" b="b"/>
            <a:pathLst>
              <a:path w="73152" h="1764792">
                <a:moveTo>
                  <a:pt x="0" y="73152"/>
                </a:moveTo>
                <a:lnTo>
                  <a:pt x="73152" y="0"/>
                </a:lnTo>
                <a:lnTo>
                  <a:pt x="73152" y="1691640"/>
                </a:lnTo>
                <a:lnTo>
                  <a:pt x="0" y="176479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373368" y="4023360"/>
            <a:ext cx="2852928" cy="1691640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373368" y="4041648"/>
            <a:ext cx="2852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Aplicación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9326880" y="4297680"/>
            <a:ext cx="987552" cy="73152"/>
          </a:xfrm>
          <a:custGeom>
            <a:avLst/>
            <a:gdLst/>
            <a:ahLst/>
            <a:cxnLst/>
            <a:rect l="l" t="t" r="r" b="b"/>
            <a:pathLst>
              <a:path w="987552" h="73152">
                <a:moveTo>
                  <a:pt x="0" y="73152"/>
                </a:moveTo>
                <a:lnTo>
                  <a:pt x="73152" y="0"/>
                </a:lnTo>
                <a:lnTo>
                  <a:pt x="987552" y="0"/>
                </a:lnTo>
                <a:lnTo>
                  <a:pt x="914400" y="73152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241280" y="4297680"/>
            <a:ext cx="73152" cy="914400"/>
          </a:xfrm>
          <a:custGeom>
            <a:avLst/>
            <a:gdLst/>
            <a:ahLst/>
            <a:cxnLst/>
            <a:rect l="l" t="t" r="r" b="b"/>
            <a:pathLst>
              <a:path w="73152" h="914400">
                <a:moveTo>
                  <a:pt x="0" y="73152"/>
                </a:moveTo>
                <a:lnTo>
                  <a:pt x="73152" y="0"/>
                </a:lnTo>
                <a:lnTo>
                  <a:pt x="73152" y="841248"/>
                </a:lnTo>
                <a:lnTo>
                  <a:pt x="0" y="914400"/>
                </a:lnTo>
                <a:close/>
              </a:path>
            </a:pathLst>
          </a:cu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326880" y="4370832"/>
            <a:ext cx="914400" cy="841248"/>
          </a:xfrm>
          <a:prstGeom prst="rect">
            <a:avLst/>
          </a:prstGeom>
          <a:solidFill>
            <a:srgbClr val="E6F1FB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9326880" y="438912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639812" y="2606040"/>
            <a:ext cx="82296" cy="82296"/>
          </a:xfrm>
          <a:prstGeom prst="ellipse">
            <a:avLst/>
          </a:prstGeom>
          <a:solidFill>
            <a:srgbClr val="EEEEEE"/>
          </a:solidFill>
          <a:ln w="7620">
            <a:solidFill>
              <a:srgbClr val="55555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680960" y="2688336"/>
            <a:ext cx="0" cy="100584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616952" y="2724912"/>
            <a:ext cx="128016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H="1">
            <a:off x="7626096" y="2788920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80960" y="2788920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7269480" y="287121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680" dirty="0"/>
          </a:p>
        </p:txBody>
      </p:sp>
      <p:sp>
        <p:nvSpPr>
          <p:cNvPr id="147" name="Shape 145"/>
          <p:cNvSpPr/>
          <p:nvPr/>
        </p:nvSpPr>
        <p:spPr>
          <a:xfrm>
            <a:off x="8188452" y="2606040"/>
            <a:ext cx="82296" cy="82296"/>
          </a:xfrm>
          <a:prstGeom prst="ellipse">
            <a:avLst/>
          </a:prstGeom>
          <a:solidFill>
            <a:srgbClr val="EEEEEE"/>
          </a:solidFill>
          <a:ln w="7620">
            <a:solidFill>
              <a:srgbClr val="55555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229600" y="2688336"/>
            <a:ext cx="0" cy="100584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165592" y="2724912"/>
            <a:ext cx="128016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H="1">
            <a:off x="8174736" y="2788920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229600" y="2788920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7818120" y="287121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680" dirty="0"/>
          </a:p>
        </p:txBody>
      </p:sp>
      <p:sp>
        <p:nvSpPr>
          <p:cNvPr id="153" name="Shape 151"/>
          <p:cNvSpPr/>
          <p:nvPr/>
        </p:nvSpPr>
        <p:spPr>
          <a:xfrm>
            <a:off x="8737092" y="2606040"/>
            <a:ext cx="82296" cy="82296"/>
          </a:xfrm>
          <a:prstGeom prst="ellipse">
            <a:avLst/>
          </a:prstGeom>
          <a:solidFill>
            <a:srgbClr val="EEEEEE"/>
          </a:solidFill>
          <a:ln w="7620">
            <a:solidFill>
              <a:srgbClr val="55555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78240" y="2688336"/>
            <a:ext cx="0" cy="100584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714232" y="2724912"/>
            <a:ext cx="128016" cy="0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H="1">
            <a:off x="8723376" y="2788920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778240" y="2788920"/>
            <a:ext cx="5486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8366760" y="287121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680" dirty="0"/>
          </a:p>
        </p:txBody>
      </p:sp>
      <p:sp>
        <p:nvSpPr>
          <p:cNvPr id="159" name="Shape 157"/>
          <p:cNvSpPr/>
          <p:nvPr/>
        </p:nvSpPr>
        <p:spPr>
          <a:xfrm>
            <a:off x="7662672" y="3456432"/>
            <a:ext cx="1143000" cy="256032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643823" y="3493008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613648" y="3509467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13648" y="3546043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7699248" y="3456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7680960" y="3017520"/>
            <a:ext cx="411480" cy="43891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>
            <a:off x="8229600" y="3017520"/>
            <a:ext cx="0" cy="43891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H="1">
            <a:off x="8366760" y="3017520"/>
            <a:ext cx="411480" cy="43891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67" name="Text 165"/>
          <p:cNvSpPr txBox="1"/>
          <p:nvPr/>
        </p:nvSpPr>
        <p:spPr>
          <a:xfrm>
            <a:off x="7699248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600" dirty="0"/>
          </a:p>
        </p:txBody>
      </p:sp>
      <p:sp>
        <p:nvSpPr>
          <p:cNvPr id="168" name="Text 166"/>
          <p:cNvSpPr txBox="1"/>
          <p:nvPr/>
        </p:nvSpPr>
        <p:spPr>
          <a:xfrm>
            <a:off x="8257032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600" dirty="0"/>
          </a:p>
        </p:txBody>
      </p:sp>
      <p:sp>
        <p:nvSpPr>
          <p:cNvPr id="169" name="Text 167"/>
          <p:cNvSpPr txBox="1"/>
          <p:nvPr/>
        </p:nvSpPr>
        <p:spPr>
          <a:xfrm>
            <a:off x="8613648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7589520" y="4206240"/>
            <a:ext cx="1280160" cy="274320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707831" y="424281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677656" y="425927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677656" y="429585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7626096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29600" y="3712464"/>
            <a:ext cx="0" cy="493776"/>
          </a:xfrm>
          <a:prstGeom prst="line">
            <a:avLst/>
          </a:prstGeom>
          <a:noFill/>
          <a:ln w="15875">
            <a:solidFill>
              <a:srgbClr val="C2620E"/>
            </a:solidFill>
            <a:prstDash val="solid"/>
            <a:tailEnd type="triangle"/>
          </a:ln>
        </p:spPr>
      </p:sp>
      <p:sp>
        <p:nvSpPr>
          <p:cNvPr id="176" name="Text 174"/>
          <p:cNvSpPr txBox="1"/>
          <p:nvPr/>
        </p:nvSpPr>
        <p:spPr>
          <a:xfrm>
            <a:off x="8275320" y="380390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6473952" y="4709160"/>
            <a:ext cx="5486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6492240" y="4709160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6473952" y="4837176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537960" y="5074920"/>
            <a:ext cx="777240" cy="384048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153351" y="511149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23176" y="512795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23176" y="516453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6574536" y="5074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680" dirty="0"/>
          </a:p>
        </p:txBody>
      </p:sp>
      <p:sp>
        <p:nvSpPr>
          <p:cNvPr id="185" name="Shape 183"/>
          <p:cNvSpPr/>
          <p:nvPr/>
        </p:nvSpPr>
        <p:spPr>
          <a:xfrm>
            <a:off x="7379208" y="5074920"/>
            <a:ext cx="804672" cy="384048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022031" y="511149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991856" y="512795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991856" y="516453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7415784" y="507492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680" dirty="0"/>
          </a:p>
        </p:txBody>
      </p:sp>
      <p:sp>
        <p:nvSpPr>
          <p:cNvPr id="190" name="Shape 188"/>
          <p:cNvSpPr/>
          <p:nvPr/>
        </p:nvSpPr>
        <p:spPr>
          <a:xfrm>
            <a:off x="8247888" y="5074920"/>
            <a:ext cx="877824" cy="384048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63863" y="511149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33688" y="512795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33688" y="516453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8284464" y="507492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680" dirty="0"/>
          </a:p>
        </p:txBody>
      </p:sp>
      <p:sp>
        <p:nvSpPr>
          <p:cNvPr id="195" name="Shape 193"/>
          <p:cNvSpPr/>
          <p:nvPr/>
        </p:nvSpPr>
        <p:spPr>
          <a:xfrm flipH="1">
            <a:off x="6931152" y="4480560"/>
            <a:ext cx="932688" cy="59436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H="1">
            <a:off x="7781544" y="4480560"/>
            <a:ext cx="448056" cy="59436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>
            <a:off x="8595360" y="4480560"/>
            <a:ext cx="91440" cy="59436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>
            <a:off x="9418320" y="4645152"/>
            <a:ext cx="768096" cy="457200"/>
          </a:xfrm>
          <a:prstGeom prst="can">
            <a:avLst/>
          </a:prstGeom>
          <a:solidFill>
            <a:srgbClr val="FFF4C9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9418320" y="4727448"/>
            <a:ext cx="768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Turnos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8869680" y="4343400"/>
            <a:ext cx="576072" cy="338328"/>
          </a:xfrm>
          <a:prstGeom prst="line">
            <a:avLst/>
          </a:prstGeom>
          <a:noFill/>
          <a:ln w="15875">
            <a:solidFill>
              <a:srgbClr val="C2620E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>
            <a:off x="8001000" y="5779008"/>
            <a:ext cx="1600200" cy="713232"/>
          </a:xfrm>
          <a:prstGeom prst="cloud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8138160" y="585216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</a:t>
            </a:r>
            <a:endParaRPr lang="en-US" sz="680" dirty="0"/>
          </a:p>
        </p:txBody>
      </p:sp>
      <p:sp>
        <p:nvSpPr>
          <p:cNvPr id="203" name="Shape 201"/>
          <p:cNvSpPr/>
          <p:nvPr/>
        </p:nvSpPr>
        <p:spPr>
          <a:xfrm>
            <a:off x="8275320" y="6035040"/>
            <a:ext cx="1051560" cy="301752"/>
          </a:xfrm>
          <a:prstGeom prst="rect">
            <a:avLst/>
          </a:prstGeom>
          <a:solidFill>
            <a:srgbClr val="EAF6EE"/>
          </a:solidFill>
          <a:ln w="9525">
            <a:solidFill>
              <a:srgbClr val="6BAF8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165031" y="6071616"/>
            <a:ext cx="106985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134856" y="6088075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134856" y="6124651"/>
            <a:ext cx="57607" cy="20117"/>
          </a:xfrm>
          <a:prstGeom prst="rect">
            <a:avLst/>
          </a:prstGeom>
          <a:solidFill>
            <a:srgbClr val="FFFFFF"/>
          </a:solidFill>
          <a:ln w="7620">
            <a:solidFill>
              <a:srgbClr val="6BAF8A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8311896" y="603504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8686800" y="5458968"/>
            <a:ext cx="0" cy="576072"/>
          </a:xfrm>
          <a:prstGeom prst="line">
            <a:avLst/>
          </a:prstGeom>
          <a:noFill/>
          <a:ln w="15875">
            <a:solidFill>
              <a:srgbClr val="C2620E"/>
            </a:solidFill>
            <a:prstDash val="solid"/>
            <a:tailEnd type="triangle"/>
          </a:ln>
        </p:spPr>
      </p:sp>
      <p:sp>
        <p:nvSpPr>
          <p:cNvPr id="209" name="Text 207"/>
          <p:cNvSpPr txBox="1"/>
          <p:nvPr/>
        </p:nvSpPr>
        <p:spPr>
          <a:xfrm>
            <a:off x="8193024" y="562356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700" dirty="0"/>
          </a:p>
        </p:txBody>
      </p:sp>
      <p:sp>
        <p:nvSpPr>
          <p:cNvPr id="210" name="Text 208"/>
          <p:cNvSpPr txBox="1"/>
          <p:nvPr/>
        </p:nvSpPr>
        <p:spPr>
          <a:xfrm>
            <a:off x="10497312" y="243230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deja su huella:</a:t>
            </a:r>
            <a:endParaRPr lang="en-US" sz="780" dirty="0"/>
          </a:p>
        </p:txBody>
      </p:sp>
      <p:sp>
        <p:nvSpPr>
          <p:cNvPr id="211" name="Shape 209"/>
          <p:cNvSpPr/>
          <p:nvPr/>
        </p:nvSpPr>
        <p:spPr>
          <a:xfrm>
            <a:off x="10497312" y="2670048"/>
            <a:ext cx="1444752" cy="475488"/>
          </a:xfrm>
          <a:prstGeom prst="roundRect">
            <a:avLst>
              <a:gd name="adj" fmla="val 7692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10533888" y="2697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actores entran por el navegador web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app mobile para médicos queda a futuro).</a:t>
            </a:r>
            <a:endParaRPr lang="en-US" sz="680" dirty="0"/>
          </a:p>
        </p:txBody>
      </p:sp>
      <p:sp>
        <p:nvSpPr>
          <p:cNvPr id="213" name="Shape 211"/>
          <p:cNvSpPr/>
          <p:nvPr/>
        </p:nvSpPr>
        <p:spPr>
          <a:xfrm flipH="1" flipV="1">
            <a:off x="9052560" y="2834640"/>
            <a:ext cx="1444752" cy="73152"/>
          </a:xfrm>
          <a:prstGeom prst="line">
            <a:avLst/>
          </a:prstGeom>
          <a:noFill/>
          <a:ln w="7620">
            <a:solidFill>
              <a:srgbClr val="C2620E"/>
            </a:solidFill>
            <a:prstDash val="dash"/>
            <a:tailEnd type="triangle"/>
          </a:ln>
        </p:spPr>
      </p:sp>
      <p:sp>
        <p:nvSpPr>
          <p:cNvPr id="214" name="Shape 212"/>
          <p:cNvSpPr/>
          <p:nvPr/>
        </p:nvSpPr>
        <p:spPr>
          <a:xfrm>
            <a:off x="10497312" y="3282696"/>
            <a:ext cx="1444752" cy="603504"/>
          </a:xfrm>
          <a:prstGeom prst="roundRect">
            <a:avLst>
              <a:gd name="adj" fmla="val 606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10533888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(presupuesto + 3 meses) →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backend (Backend API REST) con los módulos adentro.</a:t>
            </a:r>
            <a:endParaRPr lang="en-US" sz="680" dirty="0"/>
          </a:p>
        </p:txBody>
      </p:sp>
      <p:sp>
        <p:nvSpPr>
          <p:cNvPr id="216" name="Shape 214"/>
          <p:cNvSpPr/>
          <p:nvPr/>
        </p:nvSpPr>
        <p:spPr>
          <a:xfrm flipH="1">
            <a:off x="8887968" y="3584448"/>
            <a:ext cx="1609344" cy="731520"/>
          </a:xfrm>
          <a:prstGeom prst="line">
            <a:avLst/>
          </a:prstGeom>
          <a:noFill/>
          <a:ln w="7620">
            <a:solidFill>
              <a:srgbClr val="C2620E"/>
            </a:solidFill>
            <a:prstDash val="dash"/>
            <a:tailEnd type="triangle"/>
          </a:ln>
        </p:spPr>
      </p:sp>
      <p:sp>
        <p:nvSpPr>
          <p:cNvPr id="217" name="Shape 215"/>
          <p:cNvSpPr/>
          <p:nvPr/>
        </p:nvSpPr>
        <p:spPr>
          <a:xfrm>
            <a:off x="10497312" y="4041648"/>
            <a:ext cx="1444752" cy="603504"/>
          </a:xfrm>
          <a:prstGeom prst="roundRect">
            <a:avLst>
              <a:gd name="adj" fmla="val 606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0533888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propio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(restricción técnica) → app y BD en servidores propios de la clínica (los nodos 3D).</a:t>
            </a:r>
            <a:endParaRPr lang="en-US" sz="680" dirty="0"/>
          </a:p>
        </p:txBody>
      </p:sp>
      <p:sp>
        <p:nvSpPr>
          <p:cNvPr id="219" name="Shape 217"/>
          <p:cNvSpPr/>
          <p:nvPr/>
        </p:nvSpPr>
        <p:spPr>
          <a:xfrm flipH="1">
            <a:off x="10323576" y="4343400"/>
            <a:ext cx="173736" cy="182880"/>
          </a:xfrm>
          <a:prstGeom prst="line">
            <a:avLst/>
          </a:prstGeom>
          <a:noFill/>
          <a:ln w="7620">
            <a:solidFill>
              <a:srgbClr val="C2620E"/>
            </a:solidFill>
            <a:prstDash val="dash"/>
            <a:tailEnd type="triangle"/>
          </a:ln>
        </p:spPr>
      </p:sp>
      <p:sp>
        <p:nvSpPr>
          <p:cNvPr id="220" name="Shape 218"/>
          <p:cNvSpPr/>
          <p:nvPr/>
        </p:nvSpPr>
        <p:spPr>
          <a:xfrm>
            <a:off x="10497312" y="4818888"/>
            <a:ext cx="1444752" cy="475488"/>
          </a:xfrm>
          <a:prstGeom prst="roundRect">
            <a:avLst>
              <a:gd name="adj" fmla="val 7692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10533888" y="48463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aparte,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propio nodo, conectada al backend.</a:t>
            </a:r>
            <a:endParaRPr lang="en-US" sz="680" dirty="0"/>
          </a:p>
        </p:txBody>
      </p:sp>
      <p:sp>
        <p:nvSpPr>
          <p:cNvPr id="222" name="Shape 220"/>
          <p:cNvSpPr/>
          <p:nvPr/>
        </p:nvSpPr>
        <p:spPr>
          <a:xfrm flipH="1">
            <a:off x="10058400" y="5056632"/>
            <a:ext cx="438912" cy="173736"/>
          </a:xfrm>
          <a:prstGeom prst="line">
            <a:avLst/>
          </a:prstGeom>
          <a:noFill/>
          <a:ln w="7620">
            <a:solidFill>
              <a:srgbClr val="C2620E"/>
            </a:solidFill>
            <a:prstDash val="dash"/>
            <a:tailEnd type="triangle"/>
          </a:ln>
        </p:spPr>
      </p:sp>
      <p:sp>
        <p:nvSpPr>
          <p:cNvPr id="223" name="Shape 221"/>
          <p:cNvSpPr/>
          <p:nvPr/>
        </p:nvSpPr>
        <p:spPr>
          <a:xfrm>
            <a:off x="10497312" y="5596128"/>
            <a:ext cx="1444752" cy="713232"/>
          </a:xfrm>
          <a:prstGeom prst="roundRect">
            <a:avLst>
              <a:gd name="adj" fmla="val 5128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10533888" y="56235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por email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módulo Notificaciones + SMTP hacia un servicio externo (la nube: lo único de afuera).</a:t>
            </a:r>
            <a:endParaRPr lang="en-US" sz="680" dirty="0"/>
          </a:p>
        </p:txBody>
      </p:sp>
      <p:sp>
        <p:nvSpPr>
          <p:cNvPr id="225" name="Shape 223"/>
          <p:cNvSpPr/>
          <p:nvPr/>
        </p:nvSpPr>
        <p:spPr>
          <a:xfrm flipH="1">
            <a:off x="9555480" y="5952744"/>
            <a:ext cx="941832" cy="155448"/>
          </a:xfrm>
          <a:prstGeom prst="line">
            <a:avLst/>
          </a:prstGeom>
          <a:noFill/>
          <a:ln w="7620">
            <a:solidFill>
              <a:srgbClr val="C2620E"/>
            </a:solidFill>
            <a:prstDash val="dash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 clase — DSI Clase 01</dc:title>
  <dc:subject>PptxGenJS Presentation</dc:subject>
  <dc:creator>Ever Lizarraga</dc:creator>
  <cp:lastModifiedBy>Ever Lizarraga</cp:lastModifiedBy>
  <cp:revision>1</cp:revision>
  <dcterms:created xsi:type="dcterms:W3CDTF">2026-10-20T21:14:19Z</dcterms:created>
  <dcterms:modified xsi:type="dcterms:W3CDTF">2026-10-20T21:14:19Z</dcterms:modified>
</cp:coreProperties>
</file>